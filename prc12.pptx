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7" r:id="rId3"/>
    <p:sldId id="399" r:id="rId4"/>
    <p:sldId id="400" r:id="rId5"/>
    <p:sldId id="258" r:id="rId6"/>
    <p:sldId id="259" r:id="rId7"/>
    <p:sldId id="375" r:id="rId8"/>
    <p:sldId id="376" r:id="rId9"/>
    <p:sldId id="396" r:id="rId10"/>
    <p:sldId id="392" r:id="rId11"/>
    <p:sldId id="435" r:id="rId12"/>
    <p:sldId id="436" r:id="rId13"/>
    <p:sldId id="438" r:id="rId14"/>
    <p:sldId id="439" r:id="rId15"/>
    <p:sldId id="442" r:id="rId16"/>
    <p:sldId id="443" r:id="rId17"/>
    <p:sldId id="440" r:id="rId18"/>
    <p:sldId id="441" r:id="rId19"/>
    <p:sldId id="437" r:id="rId20"/>
    <p:sldId id="432" r:id="rId21"/>
    <p:sldId id="433" r:id="rId22"/>
    <p:sldId id="434" r:id="rId23"/>
    <p:sldId id="383" r:id="rId24"/>
    <p:sldId id="428" r:id="rId25"/>
    <p:sldId id="290" r:id="rId26"/>
    <p:sldId id="283"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56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 name="PlaceHolder 1"/>
          <p:cNvSpPr>
            <a:spLocks noGrp="1"/>
          </p:cNvSpPr>
          <p:nvPr>
            <p:ph type="body"/>
          </p:nvPr>
        </p:nvSpPr>
        <p:spPr>
          <a:xfrm>
            <a:off x="756000" y="5078520"/>
            <a:ext cx="6047640" cy="4811040"/>
          </a:xfrm>
          <a:prstGeom prst="rect">
            <a:avLst/>
          </a:prstGeom>
        </p:spPr>
        <p:txBody>
          <a:bodyPr wrap="none" lIns="0" tIns="0" rIns="0" bIns="0"/>
          <a:lstStyle/>
          <a:p>
            <a:r>
              <a:rPr lang="en-IN"/>
              <a:t>Click to edit the notes format</a:t>
            </a:r>
            <a:endParaRPr/>
          </a:p>
        </p:txBody>
      </p:sp>
      <p:sp>
        <p:nvSpPr>
          <p:cNvPr id="35" name="PlaceHolder 2"/>
          <p:cNvSpPr>
            <a:spLocks noGrp="1"/>
          </p:cNvSpPr>
          <p:nvPr>
            <p:ph type="hdr"/>
          </p:nvPr>
        </p:nvSpPr>
        <p:spPr>
          <a:xfrm>
            <a:off x="0" y="0"/>
            <a:ext cx="3280320" cy="534240"/>
          </a:xfrm>
          <a:prstGeom prst="rect">
            <a:avLst/>
          </a:prstGeom>
        </p:spPr>
        <p:txBody>
          <a:bodyPr wrap="none" lIns="0" tIns="0" rIns="0" bIns="0"/>
          <a:lstStyle/>
          <a:p>
            <a:r>
              <a:rPr lang="en-IN"/>
              <a:t>&lt;header&gt;</a:t>
            </a:r>
            <a:endParaRPr/>
          </a:p>
        </p:txBody>
      </p:sp>
      <p:sp>
        <p:nvSpPr>
          <p:cNvPr id="36" name="PlaceHolder 3"/>
          <p:cNvSpPr>
            <a:spLocks noGrp="1"/>
          </p:cNvSpPr>
          <p:nvPr>
            <p:ph type="dt"/>
          </p:nvPr>
        </p:nvSpPr>
        <p:spPr>
          <a:xfrm>
            <a:off x="4279320" y="0"/>
            <a:ext cx="3280320" cy="534240"/>
          </a:xfrm>
          <a:prstGeom prst="rect">
            <a:avLst/>
          </a:prstGeom>
        </p:spPr>
        <p:txBody>
          <a:bodyPr wrap="none" lIns="0" tIns="0" rIns="0" bIns="0"/>
          <a:lstStyle/>
          <a:p>
            <a:pPr algn="r"/>
            <a:r>
              <a:rPr lang="en-IN"/>
              <a:t>&lt;date/time&gt;</a:t>
            </a:r>
            <a:endParaRPr/>
          </a:p>
        </p:txBody>
      </p:sp>
      <p:sp>
        <p:nvSpPr>
          <p:cNvPr id="37" name="PlaceHolder 4"/>
          <p:cNvSpPr>
            <a:spLocks noGrp="1"/>
          </p:cNvSpPr>
          <p:nvPr>
            <p:ph type="ftr"/>
          </p:nvPr>
        </p:nvSpPr>
        <p:spPr>
          <a:xfrm>
            <a:off x="0" y="10157400"/>
            <a:ext cx="3280320" cy="534240"/>
          </a:xfrm>
          <a:prstGeom prst="rect">
            <a:avLst/>
          </a:prstGeom>
        </p:spPr>
        <p:txBody>
          <a:bodyPr wrap="none" lIns="0" tIns="0" rIns="0" bIns="0" anchor="b"/>
          <a:lstStyle/>
          <a:p>
            <a:r>
              <a:rPr lang="en-IN"/>
              <a:t>&lt;footer&gt;</a:t>
            </a:r>
            <a:endParaRPr/>
          </a:p>
        </p:txBody>
      </p:sp>
      <p:sp>
        <p:nvSpPr>
          <p:cNvPr id="38" name="PlaceHolder 5"/>
          <p:cNvSpPr>
            <a:spLocks noGrp="1"/>
          </p:cNvSpPr>
          <p:nvPr>
            <p:ph type="sldNum"/>
          </p:nvPr>
        </p:nvSpPr>
        <p:spPr>
          <a:xfrm>
            <a:off x="4279320" y="10157400"/>
            <a:ext cx="3280320" cy="534240"/>
          </a:xfrm>
          <a:prstGeom prst="rect">
            <a:avLst/>
          </a:prstGeom>
        </p:spPr>
        <p:txBody>
          <a:bodyPr wrap="none" lIns="0" tIns="0" rIns="0" bIns="0" anchor="b"/>
          <a:lstStyle/>
          <a:p>
            <a:pPr algn="r"/>
            <a:fld id="{51811100-C181-4161-81E1-C1B1D191B141}" type="slidenum">
              <a:rPr lang="en-IN"/>
              <a:pPr algn="r"/>
              <a:t>‹#›</a:t>
            </a:fld>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49" name="CustomShape 2"/>
          <p:cNvSpPr/>
          <p:nvPr/>
        </p:nvSpPr>
        <p:spPr>
          <a:xfrm>
            <a:off x="0" y="0"/>
            <a:ext cx="11796480" cy="11796480"/>
          </a:xfrm>
          <a:prstGeom prst="rect">
            <a:avLst/>
          </a:prstGeom>
        </p:spPr>
        <p:txBody>
          <a:bodyPr lIns="90000" tIns="45000" rIns="90000" bIns="45000"/>
          <a:lstStyle/>
          <a:p>
            <a:pPr>
              <a:lnSpc>
                <a:spcPct val="100000"/>
              </a:lnSpc>
            </a:pPr>
            <a:fld id="{11216171-A131-4111-8101-11D1D10191D1}" type="slidenum">
              <a:rPr lang="en-IN">
                <a:solidFill>
                  <a:srgbClr val="000000"/>
                </a:solidFill>
                <a:latin typeface="+mn-lt"/>
                <a:ea typeface="+mn-ea"/>
              </a:rPr>
              <a:pPr>
                <a:lnSpc>
                  <a:spcPct val="100000"/>
                </a:lnSpc>
              </a:pPr>
              <a:t>2</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pPr>
                <a:lnSpc>
                  <a:spcPct val="100000"/>
                </a:lnSpc>
              </a:pPr>
              <a:t>5</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pPr>
                <a:lnSpc>
                  <a:spcPct val="100000"/>
                </a:lnSpc>
              </a:pPr>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7</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9</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p:nvPr>
        </p:nvSpPr>
        <p:spPr/>
        <p:txBody>
          <a:bodyPr/>
          <a:lstStyle/>
          <a:p>
            <a:pPr algn="r"/>
            <a:fld id="{51811100-C181-4161-81E1-C1B1D191B141}" type="slidenum">
              <a:rPr lang="en-IN" smtClean="0"/>
              <a:pPr algn="r"/>
              <a:t>14</a:t>
            </a:fld>
            <a:endParaRPr lang="en-IN"/>
          </a:p>
        </p:txBody>
      </p:sp>
    </p:spTree>
    <p:extLst>
      <p:ext uri="{BB962C8B-B14F-4D97-AF65-F5344CB8AC3E}">
        <p14:creationId xmlns:p14="http://schemas.microsoft.com/office/powerpoint/2010/main" val="1154416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 name="PlaceHolder 2"/>
          <p:cNvSpPr>
            <a:spLocks noGrp="1"/>
          </p:cNvSpPr>
          <p:nvPr>
            <p:ph type="subTitle"/>
          </p:nvPr>
        </p:nvSpPr>
        <p:spPr>
          <a:xfrm>
            <a:off x="457200" y="1604520"/>
            <a:ext cx="8046360" cy="3977280"/>
          </a:xfrm>
          <a:prstGeom prst="rect">
            <a:avLst/>
          </a:prstGeom>
        </p:spPr>
        <p:txBody>
          <a:bodyPr wrap="none" lIns="0" tIns="0" rIns="0" bIns="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5" name="PlaceHolder 2"/>
          <p:cNvSpPr>
            <a:spLocks noGrp="1"/>
          </p:cNvSpPr>
          <p:nvPr>
            <p:ph type="body"/>
          </p:nvPr>
        </p:nvSpPr>
        <p:spPr>
          <a:xfrm>
            <a:off x="457200" y="1604520"/>
            <a:ext cx="8046360" cy="3976920"/>
          </a:xfrm>
          <a:prstGeom prst="rect">
            <a:avLst/>
          </a:prstGeom>
        </p:spPr>
        <p:txBody>
          <a:bodyPr wrap="none" lIns="0" tIns="0" rIns="0" bIns="0"/>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7"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8" name="PlaceHolder 3"/>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85800" y="2130480"/>
            <a:ext cx="7771680" cy="3450960"/>
          </a:xfrm>
          <a:prstGeom prst="rect">
            <a:avLst/>
          </a:prstGeom>
        </p:spPr>
        <p:txBody>
          <a:bodyPr wrap="none" lIns="0" tIns="0" rIns="0" bIns="0" anchor="ct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13" name="PlaceHolder 3"/>
          <p:cNvSpPr>
            <a:spLocks noGrp="1"/>
          </p:cNvSpPr>
          <p:nvPr>
            <p:ph type="body"/>
          </p:nvPr>
        </p:nvSpPr>
        <p:spPr>
          <a:xfrm>
            <a:off x="457200" y="3681360"/>
            <a:ext cx="3926160" cy="1896480"/>
          </a:xfrm>
          <a:prstGeom prst="rect">
            <a:avLst/>
          </a:prstGeom>
        </p:spPr>
        <p:txBody>
          <a:bodyPr wrap="none" lIns="0" tIns="0" rIns="0" bIns="0"/>
          <a:lstStyle/>
          <a:p>
            <a:endParaRPr/>
          </a:p>
        </p:txBody>
      </p:sp>
      <p:sp>
        <p:nvSpPr>
          <p:cNvPr id="14" name="PlaceHolder 4"/>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6"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17"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18"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0"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1"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2" name="PlaceHolder 4"/>
          <p:cNvSpPr>
            <a:spLocks noGrp="1"/>
          </p:cNvSpPr>
          <p:nvPr>
            <p:ph type="body"/>
          </p:nvPr>
        </p:nvSpPr>
        <p:spPr>
          <a:xfrm>
            <a:off x="457200" y="3681360"/>
            <a:ext cx="8045640" cy="1896480"/>
          </a:xfrm>
          <a:prstGeom prst="rect">
            <a:avLst/>
          </a:prstGeom>
        </p:spPr>
        <p:txBody>
          <a:bodyPr wrap="none" lIns="0" tIns="0" rIns="0" bIns="0"/>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4" name="PlaceHolder 2"/>
          <p:cNvSpPr>
            <a:spLocks noGrp="1"/>
          </p:cNvSpPr>
          <p:nvPr>
            <p:ph type="body"/>
          </p:nvPr>
        </p:nvSpPr>
        <p:spPr>
          <a:xfrm>
            <a:off x="457200" y="1604520"/>
            <a:ext cx="8046360" cy="1896480"/>
          </a:xfrm>
          <a:prstGeom prst="rect">
            <a:avLst/>
          </a:prstGeom>
        </p:spPr>
        <p:txBody>
          <a:bodyPr wrap="none" lIns="0" tIns="0" rIns="0" bIns="0"/>
          <a:lstStyle/>
          <a:p>
            <a:endParaRPr/>
          </a:p>
        </p:txBody>
      </p:sp>
      <p:sp>
        <p:nvSpPr>
          <p:cNvPr id="25" name="PlaceHolder 3"/>
          <p:cNvSpPr>
            <a:spLocks noGrp="1"/>
          </p:cNvSpPr>
          <p:nvPr>
            <p:ph type="body"/>
          </p:nvPr>
        </p:nvSpPr>
        <p:spPr>
          <a:xfrm>
            <a:off x="457200" y="3681360"/>
            <a:ext cx="8046360" cy="1896480"/>
          </a:xfrm>
          <a:prstGeom prst="rect">
            <a:avLst/>
          </a:prstGeom>
        </p:spPr>
        <p:txBody>
          <a:bodyPr wrap="none" lIns="0" tIns="0" rIns="0" bIns="0"/>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7"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8"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9"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
        <p:nvSpPr>
          <p:cNvPr id="30" name="PlaceHolder 5"/>
          <p:cNvSpPr>
            <a:spLocks noGrp="1"/>
          </p:cNvSpPr>
          <p:nvPr>
            <p:ph type="body"/>
          </p:nvPr>
        </p:nvSpPr>
        <p:spPr>
          <a:xfrm>
            <a:off x="457200" y="3681360"/>
            <a:ext cx="3926160" cy="1896480"/>
          </a:xfrm>
          <a:prstGeom prst="rect">
            <a:avLst/>
          </a:prstGeom>
        </p:spPr>
        <p:txBody>
          <a:bodyPr wrap="none" lIns="0" tIns="0" rIns="0" bIns="0"/>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33"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520"/>
          </a:xfrm>
          <a:prstGeom prst="rect">
            <a:avLst/>
          </a:prstGeom>
        </p:spPr>
        <p:txBody>
          <a:bodyPr wrap="none" lIns="0" tIns="0" rIns="0" bIns="0" anchor="ctr"/>
          <a:lstStyle/>
          <a:p>
            <a:r>
              <a:rPr lang="en-IN"/>
              <a:t>Click to edit the title text format</a:t>
            </a:r>
            <a:endParaRPr/>
          </a:p>
        </p:txBody>
      </p:sp>
      <p:sp>
        <p:nvSpPr>
          <p:cNvPr id="3" name="PlaceHolder 2"/>
          <p:cNvSpPr>
            <a:spLocks noGrp="1"/>
          </p:cNvSpPr>
          <p:nvPr>
            <p:ph type="body"/>
          </p:nvPr>
        </p:nvSpPr>
        <p:spPr>
          <a:xfrm>
            <a:off x="457200" y="1604520"/>
            <a:ext cx="8046360" cy="3976920"/>
          </a:xfrm>
          <a:prstGeom prst="rect">
            <a:avLst/>
          </a:prstGeom>
        </p:spPr>
        <p:txBody>
          <a:bodyPr wrap="none" lIns="0" tIns="0" rIns="0" bIns="0"/>
          <a:lstStyle/>
          <a:p>
            <a:pPr>
              <a:buSzPct val="45000"/>
              <a:buFont typeface="StarSymbol"/>
              <a:buChar char=""/>
            </a:pPr>
            <a:r>
              <a:rPr lang="en-IN"/>
              <a:t>Click to edit the outline text format</a:t>
            </a:r>
            <a:endParaRPr/>
          </a:p>
          <a:p>
            <a:pPr lvl="1">
              <a:buSzPct val="75000"/>
              <a:buFont typeface="StarSymbol"/>
              <a:buChar char=""/>
            </a:pPr>
            <a:r>
              <a:rPr lang="en-IN"/>
              <a:t>Second Outline Level</a:t>
            </a:r>
            <a:endParaRPr/>
          </a:p>
          <a:p>
            <a:pPr lvl="2">
              <a:buSzPct val="45000"/>
              <a:buFont typeface="StarSymbol"/>
              <a:buChar char=""/>
            </a:pPr>
            <a:r>
              <a:rPr lang="en-IN"/>
              <a:t>Third Outline Level</a:t>
            </a:r>
            <a:endParaRPr/>
          </a:p>
          <a:p>
            <a:pPr lvl="3">
              <a:buSzPct val="75000"/>
              <a:buFont typeface="StarSymbol"/>
              <a:buChar char=""/>
            </a:pPr>
            <a:r>
              <a:rPr lang="en-IN"/>
              <a:t>Fourth Outline Level</a:t>
            </a:r>
            <a:endParaRPr/>
          </a:p>
          <a:p>
            <a:pPr lvl="4">
              <a:buSzPct val="45000"/>
              <a:buFont typeface="StarSymbol"/>
              <a:buChar char=""/>
            </a:pPr>
            <a:r>
              <a:rPr lang="en-IN"/>
              <a:t>Fifth Outline Level</a:t>
            </a:r>
            <a:endParaRPr/>
          </a:p>
          <a:p>
            <a:pPr lvl="5">
              <a:buSzPct val="45000"/>
              <a:buFont typeface="StarSymbol"/>
              <a:buChar char=""/>
            </a:pPr>
            <a:r>
              <a:rPr lang="en-IN"/>
              <a:t>Sixth Outline Level</a:t>
            </a:r>
            <a:endParaRPr/>
          </a:p>
          <a:p>
            <a:pPr lvl="6">
              <a:buSzPct val="45000"/>
              <a:buFont typeface="StarSymbol"/>
              <a:buChar char=""/>
            </a:pPr>
            <a:r>
              <a:rPr lang="en-IN"/>
              <a:t>Seventh Outline Level</a:t>
            </a:r>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726546"/>
            <a:ext cx="9144000" cy="1938992"/>
          </a:xfrm>
          <a:prstGeom prst="rect">
            <a:avLst/>
          </a:prstGeom>
          <a:noFill/>
        </p:spPr>
        <p:txBody>
          <a:bodyPr wrap="square" rtlCol="0">
            <a:spAutoFit/>
          </a:bodyPr>
          <a:lstStyle/>
          <a:p>
            <a:pPr algn="ctr"/>
            <a:r>
              <a:rPr lang="en-US" sz="4000" dirty="0"/>
              <a:t> A Distributed Approach for efficiently extracting common patterns from large datasets</a:t>
            </a:r>
            <a:endParaRPr lang="en-US" sz="4000" b="1" dirty="0">
              <a:ln w="1905"/>
              <a:effectLst>
                <a:innerShdw blurRad="69850" dist="43180" dir="5400000">
                  <a:srgbClr val="000000">
                    <a:alpha val="65000"/>
                  </a:srgbClr>
                </a:innerShdw>
              </a:effectLst>
            </a:endParaRPr>
          </a:p>
        </p:txBody>
      </p:sp>
      <p:sp>
        <p:nvSpPr>
          <p:cNvPr id="3" name="TextBox 2"/>
          <p:cNvSpPr txBox="1"/>
          <p:nvPr/>
        </p:nvSpPr>
        <p:spPr>
          <a:xfrm>
            <a:off x="5105400" y="3664995"/>
            <a:ext cx="5334000" cy="1323439"/>
          </a:xfrm>
          <a:prstGeom prst="rect">
            <a:avLst/>
          </a:prstGeom>
          <a:noFill/>
        </p:spPr>
        <p:txBody>
          <a:bodyPr wrap="square" rtlCol="0">
            <a:spAutoFit/>
          </a:bodyPr>
          <a:lstStyle/>
          <a:p>
            <a:r>
              <a:rPr lang="en-US" sz="2000" b="1" dirty="0">
                <a:solidFill>
                  <a:schemeClr val="tx2">
                    <a:lumMod val="75000"/>
                  </a:schemeClr>
                </a:solidFill>
              </a:rPr>
              <a:t>Name of the student &amp; Roll No.</a:t>
            </a:r>
          </a:p>
          <a:p>
            <a:r>
              <a:rPr lang="en-IN" sz="2000" dirty="0" err="1">
                <a:effectLst/>
                <a:latin typeface="Times New Roman" panose="02020603050405020304" pitchFamily="18" charset="0"/>
                <a:ea typeface="Calibri" panose="020F0502020204030204" pitchFamily="34" charset="0"/>
              </a:rPr>
              <a:t>Ch.Ashwith</a:t>
            </a:r>
            <a:r>
              <a:rPr lang="en-IN" sz="2000" dirty="0">
                <a:effectLst/>
                <a:latin typeface="Times New Roman" panose="02020603050405020304" pitchFamily="18" charset="0"/>
                <a:ea typeface="Calibri" panose="020F0502020204030204" pitchFamily="34" charset="0"/>
              </a:rPr>
              <a:t>(20H51A0586)</a:t>
            </a:r>
          </a:p>
          <a:p>
            <a:r>
              <a:rPr lang="en-IN" sz="2000" dirty="0" err="1">
                <a:effectLst/>
                <a:latin typeface="Times New Roman" panose="02020603050405020304" pitchFamily="18" charset="0"/>
                <a:ea typeface="Calibri" panose="020F0502020204030204" pitchFamily="34" charset="0"/>
              </a:rPr>
              <a:t>N.Pranay</a:t>
            </a:r>
            <a:r>
              <a:rPr lang="en-IN" sz="2000" dirty="0">
                <a:effectLst/>
                <a:latin typeface="Times New Roman" panose="02020603050405020304" pitchFamily="18" charset="0"/>
                <a:ea typeface="Calibri" panose="020F0502020204030204" pitchFamily="34" charset="0"/>
              </a:rPr>
              <a:t>(20H51A05A2)</a:t>
            </a:r>
            <a:endParaRPr lang="en-IN" sz="2000" dirty="0">
              <a:latin typeface="Times New Roman" panose="02020603050405020304" pitchFamily="18" charset="0"/>
              <a:ea typeface="Calibri" panose="020F0502020204030204" pitchFamily="34" charset="0"/>
            </a:endParaRPr>
          </a:p>
          <a:p>
            <a:r>
              <a:rPr lang="en-IN" sz="2000" dirty="0" err="1">
                <a:effectLst/>
                <a:latin typeface="Times New Roman" panose="02020603050405020304" pitchFamily="18" charset="0"/>
                <a:ea typeface="Calibri" panose="020F0502020204030204" pitchFamily="34" charset="0"/>
              </a:rPr>
              <a:t>G.Soniya</a:t>
            </a:r>
            <a:r>
              <a:rPr lang="en-IN" sz="2000" dirty="0">
                <a:effectLst/>
                <a:latin typeface="Times New Roman" panose="02020603050405020304" pitchFamily="18" charset="0"/>
                <a:ea typeface="Calibri" panose="020F0502020204030204" pitchFamily="34" charset="0"/>
              </a:rPr>
              <a:t>(20H51A05C2)</a:t>
            </a:r>
            <a:endParaRPr lang="en-US" sz="2400" b="1" dirty="0">
              <a:solidFill>
                <a:schemeClr val="tx2">
                  <a:lumMod val="75000"/>
                </a:schemeClr>
              </a:solidFill>
            </a:endParaRPr>
          </a:p>
        </p:txBody>
      </p:sp>
      <p:sp>
        <p:nvSpPr>
          <p:cNvPr id="4" name="TextBox 3"/>
          <p:cNvSpPr txBox="1"/>
          <p:nvPr/>
        </p:nvSpPr>
        <p:spPr>
          <a:xfrm>
            <a:off x="228600" y="4876800"/>
            <a:ext cx="5181600" cy="1292662"/>
          </a:xfrm>
          <a:prstGeom prst="rect">
            <a:avLst/>
          </a:prstGeom>
          <a:noFill/>
        </p:spPr>
        <p:txBody>
          <a:bodyPr wrap="square" rtlCol="0">
            <a:spAutoFit/>
          </a:bodyPr>
          <a:lstStyle/>
          <a:p>
            <a:pPr marR="64008" lvl="0">
              <a:lnSpc>
                <a:spcPct val="150000"/>
              </a:lnSpc>
              <a:spcBef>
                <a:spcPts val="400"/>
              </a:spcBef>
              <a:buClr>
                <a:schemeClr val="accent1"/>
              </a:buClr>
              <a:buSzPct val="68000"/>
              <a:defRPr/>
            </a:pPr>
            <a:r>
              <a:rPr lang="en-US" sz="2800" b="1" dirty="0">
                <a:solidFill>
                  <a:srgbClr val="C00000"/>
                </a:solidFill>
              </a:rPr>
              <a:t>Under esteemed guidance of</a:t>
            </a:r>
            <a:endParaRPr lang="en-US" sz="2400" b="1" dirty="0">
              <a:solidFill>
                <a:srgbClr val="C00000"/>
              </a:solidFill>
            </a:endParaRPr>
          </a:p>
          <a:p>
            <a:r>
              <a:rPr lang="en-US" b="1" dirty="0"/>
              <a:t>Guide Name</a:t>
            </a:r>
          </a:p>
          <a:p>
            <a:r>
              <a:rPr lang="en-US" b="1" dirty="0" err="1"/>
              <a:t>Dr.P.Senthil</a:t>
            </a:r>
            <a:endParaRPr lang="en-US" b="1" dirty="0"/>
          </a:p>
        </p:txBody>
      </p:sp>
      <p:graphicFrame>
        <p:nvGraphicFramePr>
          <p:cNvPr id="5" name="Table 4"/>
          <p:cNvGraphicFramePr>
            <a:graphicFrameLocks noGrp="1"/>
          </p:cNvGraphicFramePr>
          <p:nvPr/>
        </p:nvGraphicFramePr>
        <p:xfrm>
          <a:off x="1524000" y="228600"/>
          <a:ext cx="6096000" cy="1255998"/>
        </p:xfrm>
        <a:graphic>
          <a:graphicData uri="http://schemas.openxmlformats.org/drawingml/2006/table">
            <a:tbl>
              <a:tblPr>
                <a:tableStyleId>{2D5ABB26-0587-4C30-8999-92F81FD0307C}</a:tableStyleId>
              </a:tblPr>
              <a:tblGrid>
                <a:gridCol w="6096000">
                  <a:extLst>
                    <a:ext uri="{9D8B030D-6E8A-4147-A177-3AD203B41FA5}">
                      <a16:colId xmlns:a16="http://schemas.microsoft.com/office/drawing/2014/main" val="20000"/>
                    </a:ext>
                  </a:extLst>
                </a:gridCol>
              </a:tblGrid>
              <a:tr h="80953">
                <a:tc>
                  <a:txBody>
                    <a:bodyPr/>
                    <a:lstStyle/>
                    <a:p>
                      <a:pPr algn="ctr" rtl="0" fontAlgn="b"/>
                      <a:r>
                        <a:rPr lang="en-US" sz="2000" dirty="0">
                          <a:solidFill>
                            <a:srgbClr val="002060"/>
                          </a:solidFill>
                        </a:rPr>
                        <a:t>CMR COLLEGE OF ENGINEERING &amp; TECHNOLOGY</a:t>
                      </a:r>
                      <a:endParaRPr lang="en-US" sz="2000" b="1" dirty="0">
                        <a:solidFill>
                          <a:srgbClr val="002060"/>
                        </a:solidFill>
                        <a:latin typeface="Calibri"/>
                      </a:endParaRPr>
                    </a:p>
                  </a:txBody>
                  <a:tcPr marL="9199" marR="9199" marT="6133" marB="6133" anchor="b"/>
                </a:tc>
                <a:extLst>
                  <a:ext uri="{0D108BD9-81ED-4DB2-BD59-A6C34878D82A}">
                    <a16:rowId xmlns:a16="http://schemas.microsoft.com/office/drawing/2014/main" val="10000"/>
                  </a:ext>
                </a:extLst>
              </a:tr>
              <a:tr h="80953">
                <a:tc>
                  <a:txBody>
                    <a:bodyPr/>
                    <a:lstStyle/>
                    <a:p>
                      <a:pPr algn="ctr" rtl="0" fontAlgn="b"/>
                      <a:r>
                        <a:rPr lang="en-US" sz="2000" dirty="0" err="1">
                          <a:solidFill>
                            <a:srgbClr val="002060"/>
                          </a:solidFill>
                        </a:rPr>
                        <a:t>Kandlakoya</a:t>
                      </a:r>
                      <a:r>
                        <a:rPr lang="en-US" sz="2000" dirty="0">
                          <a:solidFill>
                            <a:srgbClr val="002060"/>
                          </a:solidFill>
                        </a:rPr>
                        <a:t>, </a:t>
                      </a:r>
                      <a:r>
                        <a:rPr lang="en-US" sz="2000" dirty="0" err="1">
                          <a:solidFill>
                            <a:srgbClr val="002060"/>
                          </a:solidFill>
                        </a:rPr>
                        <a:t>Medchal</a:t>
                      </a:r>
                      <a:r>
                        <a:rPr lang="en-US" sz="2000" dirty="0">
                          <a:solidFill>
                            <a:srgbClr val="002060"/>
                          </a:solidFill>
                        </a:rPr>
                        <a:t>, Hyderabad - 501401</a:t>
                      </a:r>
                      <a:endParaRPr lang="en-US" sz="2000" b="1" dirty="0">
                        <a:solidFill>
                          <a:srgbClr val="002060"/>
                        </a:solidFill>
                        <a:latin typeface="Times New Roman"/>
                      </a:endParaRPr>
                    </a:p>
                  </a:txBody>
                  <a:tcPr marL="9199" marR="9199" marT="6133" marB="6133" anchor="b"/>
                </a:tc>
                <a:extLst>
                  <a:ext uri="{0D108BD9-81ED-4DB2-BD59-A6C34878D82A}">
                    <a16:rowId xmlns:a16="http://schemas.microsoft.com/office/drawing/2014/main" val="10001"/>
                  </a:ext>
                </a:extLst>
              </a:tr>
              <a:tr h="80953">
                <a:tc>
                  <a:txBody>
                    <a:bodyPr/>
                    <a:lstStyle/>
                    <a:p>
                      <a:pPr algn="ctr" rtl="0" fontAlgn="b"/>
                      <a:r>
                        <a:rPr lang="en-US" sz="2000" dirty="0">
                          <a:solidFill>
                            <a:srgbClr val="002060"/>
                          </a:solidFill>
                        </a:rPr>
                        <a:t>Department of Computer Science and Engineering</a:t>
                      </a:r>
                      <a:endParaRPr lang="en-US" sz="2000" b="1" dirty="0">
                        <a:solidFill>
                          <a:srgbClr val="002060"/>
                        </a:solidFill>
                        <a:latin typeface="Times New Roman"/>
                      </a:endParaRPr>
                    </a:p>
                  </a:txBody>
                  <a:tcPr marL="9199" marR="9199" marT="6133" marB="6133" anchor="b"/>
                </a:tc>
                <a:extLst>
                  <a:ext uri="{0D108BD9-81ED-4DB2-BD59-A6C34878D82A}">
                    <a16:rowId xmlns:a16="http://schemas.microsoft.com/office/drawing/2014/main" val="10002"/>
                  </a:ext>
                </a:extLst>
              </a:tr>
            </a:tbl>
          </a:graphicData>
        </a:graphic>
      </p:graphicFrame>
      <p:sp>
        <p:nvSpPr>
          <p:cNvPr id="30722" name="AutoShape 2" descr="data:image/png;base64,iVBORw0KGgoAAAANSUhEUgAAAEwAAABNCAYAAAAMy4KOAAAAAXNSR0IArs4c6QAAIABJREFUeF7tvAezG1eW5/lLB48H4HnDRyuKIiWR8iVHUa5LrlS+a6Z7tmNntmc+205P9O5GlXyVRIqkbMmXRO+e9wYeSL9xTiZIVmxsxHyAASP1BCCRee//HvM/5qYRx3HM/3r9TyNgCGDR/+f0GPmHHvIa/DX0nYGBwhzL/4FhJH/ls+RzOUdP1FcUh0RxhGEZmKZFLF9EoR4mAQYRxB74fXB7yXd2Bpws2Dk9QsNBzo707gaWARYhRhySrLlJjJXedDDOuyYmpxgxhg54MLfo7+aZfConyLWM9P/1B3ohR38ax3GQ4nFH1ORCIbExgDL5xlCADEEIYhNB2pR/A8CiZK4yflNua8oAYvwwICTAtA0sO6MDiUIfM+hjRy4mLoQt4vY2UWOL2HMx8yXM0jAUh6EwjGcVcSOHAAvDMMmYMVl8rMgjFtBwiMgQx5YupJkOc7DuMiaFwJSFi4mNAOR3OscEOJllhCyoTaSLI9dKFxgoyTUFsFDRT+VIsYmIDRnEHQlLoUrXVyTMVGDkczOBUVc6jtLVlYvrlVIJE9kQsRAJE0kMPczQxQ57GEGbuLuFt71Me2OJwO1RqAyTH5nEqk5hVKYIs1X8OIMXy2QMbCMBzI59nTiGTWw4xLJUcTIiESS9lwxCpTDCECkT0MwIDPndHW3S0xSoBDC9lgIoUENxIGGRXDRVIb2J/EuRv1tbB8Ak6A7U8rbmpSNLkFLRH6ipam8i4vJX7xb5mJGL5Teht0u4u0R79Qa7K3O4/S6lao3KxB5y4wewxw8QFycIjTxu7BCKBKk8BdgDlRY4DJVrTFXNRNKIBuOU1U2VzkiASwAT4JLPVfJT1RawkkMAS/DJDwCTFbgNWCpVcq/k0zuKOpAyBSuKE4lKfYbaIV1BMFQf7kLLsIhNmyhOzpKvzTjAiMRm7UBzFXf1GruLl9lauk6316ZQGmJkej/VvUfJ7TmGUZ0ltkp45PBjE6IIOw7IiLQYEVEcqK0UdbUMG0MtjoAmEpeuXrpWiZGVkQhgKWgpYANbeAcwAS1BIXsbMLE7inKi5wqV6usdw50oX2rEBawoWRkFKNX+mEAHIoAktxDbICucUXkII1n5GMuMMY0AU1SxvYa/NUd3+RKtlau0NxZx3Q5mJkd5dIba3qOU9j6ANX4P5EcJzSJ+7OiCidF3VFoELI8IX8djKmAZtT/ENob8FfVS26s2IjEWKl2DQ0BMDPzfgzUw/ncZfTFiA3s1AOUOVqm0DOwUMZGAJV5PxyBnir0LCGNPTDymIYAkKqA3j/NEUYFIAItjLCvEkvO8OuHuPN3Vq3SWLtBbv0HQWCcMXELTIluZYGj6XgUsM3UfVmUPcbZKYGSJIlG9CNsQLxsQ0SOkn1pNAcmB2MEko4dhqI9TnBKjLbZsoKapWopGp94xMSGJdKrnNECWQY0+gUw4Af/vABNxVruTfK4SLYskOqzGUyRMKINPEHbxgi5h3FdAbKUQ8kO5TRniCmFoqWRaZoAddTF7m3jr12ksXqC9dIFwZx7HbWAQEhkW5KvYI/vJTd2napkbO4g1NEVkldSDJVMSwES6OgSx3N9X1Y8jByPOYpPHtgpYRlYlTc1P6uXuLHgqZQpYaohSabsbMMuwBoAFiYQNDNkAHtX9u/R/4ElT6RHbEePiBh3a3V3a3R3coIVlB2SyJpmsjW3nyVgjZM1RDGTQYBlCKdrQWqG3fIXG/I90ly5iNpfIBR0c2yAybHy7iF+cwBq7h/zeByjPHCEzug+cIURGxWaBRxj36Hk7dNw6ftAnDEUSsmSsMvlMjUK2Rs4pYRmZxIvLz+62NmrTQjGsifEfSM1tJ5WcbxqyCCphfnLibcAGhvIuwAbSpQ5SJEskLNTBtvs7bNdX2a6v0OltY1geuaJNrpghlylSzE5QdKbI2SUc08YxQgy/SbizSGfhIs25H+kvXybTXqMQd8k7NrGVoRtnaDtVotp+CvsfpHrgAfKTByFbwYvB8/sEUR83bNPorlNvb9Bze0SB0I4ixdwo1fIUtdIkpVwNx8wnPC1hE7e1KeFHd2zZwJ4ntvw2ephGJgEsjry/B0yNZaKOd7/US8cxoRK+EMuO1XY0u5usbs2xsnGT3dYqAR2yeYO8AJYrUMyOUclPUS2OUsmVKVomhtvE31ygPXeZ1twFwtXr5LpblOiRdxxiK0srMKkbBfzaLKVDJxi+9ziFqYOE2RItv0ejVafTa9L1m9S76+y2Nun2+8SBTc6uUqvMMDlygPHaXiqFMTJmkTiylVxbQq7NO44s8ZyppN3FDu5Im0iYaIi+BoClEqVgCWgp30tRS7x5hBf6auRtR+7q0upvsbJ1g4W1q6zvzuMGDaxsSDZn4NgZsvYQQ/lxxoYmGa+MUsvmyfg9vLVFmjcu0Vu4irm1SLG3SzHuk3NssLK0A5MdI4dbnaF06AFq9x0nNzVLz7LZ6jbY2tmg3tqm4zXphk26bodu3yMOMxSzo4zV9jIzfpjJ4QNU8uM4RpEotAkDmZ1BxjZTL59OUB1YQo8GlOoOqboLsAgvlSWhAAkpVYZ7V2yo4imAxRGu76oLdzIxpuXT9rdY2b7B3OolVrZu0vV3wOpj2RLnCV/KUsrWGK9MMD0yxUS5SjkGd3WZxpWL+Mvz5JqblPsNCqFLxjQx7SzdyGLbzNGrTlI8eJTqkaNY4xPUY5+V+gYbO2vsNjZpe00iJyI0DfpuTBxmKeXHmRzZz96JI0zUDlLOjGFTVMcjFsg2LLKOiSVSlqpnon1ilwegDZxAYttMcomE+bGbGEGNCZPQQoyjgCegCW3Ri6mWikqKG/fA9IiMfgLYznXmVy6xvjuHFzexMj6R6eK7PczQpOgUKToFavkqM7UJZkpVwvVNNn/6EWNjnRGvR9ltYffaGEGI5eTwrTx1p0CzWCOz/yDlQ4fwKiXWenXWWhv0/BZ9v0mj3yK0ILKz+IH8T4FyfkLVcc/YYcYr+yk5Aph4a4c4tDQecMw05tS5D/jkgPWLZ0g5aSqAtjqtOI57US+JvQy5gLjOFLA0K6HOIA13hEpEhISGS0yfkC7tYJu13ZvMr15ibecWXtTAyonc+wR+VwFwsHAik7JTYnZ4mgPDkxhbDdZ/vIC1scVY4FPxuti9LvgBhpXBs3M0FLAhMvsOUDy0j27BYbG9wXp7ndDoEtCl5XYJbYdYvGpgJ4DlEsBEJcdK+yjaY1iUE06WklkNbe+y1Amn/P8HLDMArBm2NYA2Dck8iHYnoN0JCNOUTSphyrvoK2CR0aMX7rDWnFPAljeu0/F3FLBMLsY0feKgT9yX9E1IyS6yd3iGA8Mz2Ds9Ni9exVjdZMT1qHku+TDACCVXYtLBounkaZeGyB0QwGbpFi0W2qust1bxjZZKeC/0IFMCq4Tr2cRBjpJI2OgBZsYOM1rcR8EUwEqYMmmloCJlhjKJQcQkvE7E4W6V1ARCGgXlBirZjDpJ1kEBS4JXASyJk5WppsxMLihUwlNWHZsusdFXidruLDG/foWF1SvUO+vEVp9MwSCbjTFil8DtEvd9ClaB2doeBSzbCti9fJNgaZ1yu0vN8ykro9ZMF60wpm5l6VarFA4eoHBghnYhZqG5wlpzGd9oJFIskzQLhJTwvQwWRSqlSSZHDzE1cohaYQ85s4ZJAYMcZizs39G5DuyX2uvb4dwgT5basPSk/G0Ji1OVVHKmGS7MWP47cI+aB0oSfRICCVkkAcswhTi2abjrLG+JHbvCxu6iciMnF5PLG1iWj+91CfsueSPPzPAe9g/PUOxB+/oivbkVsrt1Kp5PzbTJWhnNPDSCkF3LwR0eoXjwANm9EzSzgQK23lzCp47pBMSmQRjlCIICxAVyTpVhoRSjBxmvHmAoN4ljVBQsIbQiZRoySTSRusGBIqqESVIhjXsSapqQ2YKqcxzHLSQGTKVIk38GluaUkoyQedtdyroLI5ZQSn7TwzCEkvTpRbtstBZYWLnCysYcze4WkemRycbYGYm+XPx+n6yZY6a2h721aaq+hbu4TvvGIvH6BkOeS82wKGYLRKZNI4yoWw7B6BiFAwewpoZpWB4LrWU2Wiv4UR07I/bOwvcsAi9L1qlRLU8yMbKXidEDDJdmyVsjmJQgFqMtKpnV2NKQLMpdweBAGZMsjOZe/o64FgahUQNh+lEiRZprEmInaeABYKKaEoRJ3CY0OSCOXeKwi2G6GHaAb3RodlZZ27zF8votdhsb9CUbYfqYGQiNEM91cYwcU9VJ9lQmGCFLvFmnc2sBf3mJYq/LEFDI5MHJ0AyhnclhTEyT3buPoFZihz4r7XV2Oht4UR0nE2FbJkEfIs+hXBxjfGSWidF9jNT2UsxP4BhVjLhAHGVAYsxBMG46tzMUaVx+m7IKQxDxUIuUgioKrRJWl7SMhvGxSpOm3+Ikq6lZ8kHaMpLzJIUTEId9Yr+tKmlkImLLxXO32dldZn1rkZ36Ou1eHTfqE1oRvhHjej62mWW0NMJkaZgJO0+206M7v0h/YY5su0khDik4ST6/E1v08yWcmf3Y03voFrJsBl02uju03F28qEnGCclYJvRjzNChNjTO5Ng+xkb2UhqaIuOMYIh0RXkFS4NyyZXJKpqWJO9STmGm0pRkJ5IUdRJ23gEsTVHXBx/HcpoY3TuHIZIl6RwBS2NOoQtiIT1wW6qOZGKwfaKgidfdotXeotXdpdtv0nY7tEKPVuDRc30drIRHtUyeyUyRahjgrS7TXbiJ09wh4/VwpBhg5+hLsFwZIb/3MExMs2uZrPW71P02bixxZBvb9MnbJnksCmaOanGY4eoU5fIkTn4U0x6CuAhhLk0BZhOwlIWnXEnuZ1kJgGaSaRUkBKzbnD+GwiCn30gFUaRLTrfTQ5OzEnj5HgRCC0QNJZUSEAY94n6TWLKmttg1nyhsE/pNoqinxNaL+nT8Pu04oh1B25VzRCFschGMZ3KM2xBsrtJduonZ2MLsNTHCCOwsgZ3HHJmifOgYjEyxGYSsdjp0JLOaFXPcx8KjYEu+3aQQW+StPLlMGSdTUbAMs4yh3rGAYRUw7DyGncOyJEeWgiQSakk4ZoMptQFLnY7YMAUtdQy3ARM5GaQ7ErAE3wAzBSuW0le/C16HyO3ieT3cXpOw1wQBTMCKPYKgo+keiSHzBUfFtBeHuE4WN5Oj40e4bkjkhsTdPsOOzXTBIdpdo7N8k6i+QdjaIZYFkjJbtkx2YpbK4RMYtQnWO33WW1082yRXymKaHmbcp2CGFMIQpx9geBFRYBKFonp5DKOAaRYxrSJmpoSZLWFlimTyRex8EcMR9bTTsl6iqrFlaz5uIGWyfvIqivYmXjLN94hmGQJYiBl7GH6fuNskaO4QtLaJu3XCbp1+c4decwu/11BbBilgkvWwIk3rFIp5sE1c08SqDuMMT+CZWYLQROKY0A0oORmGcw5Rc4vW6hy93VU6O+v4bh8nk6MwVKM8tY/y/qOYxWEa3T6Nbo/IFM8rVqJN5DfJBD3MVou41SbqeQReRBhIpjcLRg6sPIaVx3QKmE4RK1ekUBulNDqBUxzCzBYwMkVQZyPjzhGZWc25Sa5RLLcImXBEBayRsl0x8I4CJmy7pwAFu+v0t5Zwt5eJWhta4YnaOwSdHUKvBWFPvacQWmXEtomTy+Bkc4SmAGZhDCWAxbkypuTEnDKWnSdXKJPPZon7bdqbyzQ2l9jaWKLf61Aolhgbn6Q2vY/c6CymmcVtd+h22/h+j0jiyN4WkVsn43cxOy1otcELiIJYk4hJjTFDbGY1v4aVI7ZyCowzNExxZIp8bZxcZQy7PIKRr6hU45SIrLwWjwP1lonxrwwA2xYTBGQMOWJswwdJ8O2u0lu9SWPpKt21G8TNVRx3l0LcIScpZjnCPoYmmIxEvG0RZ1srO25k0MOka2cIcmWs4jCFoUkqw7MMjezBqU1AXvhRjNvYYmNtjoWlm3S7LarVKvv3H2B0ai+GhD0dl7hRx2vv0q2v09xeoF1fAm+HfOySC3wyfohmnNTzJV5PQJNiXGjaBIYjlUw8I4Nn5bAKw5TGZ6lOHSQ/tg97aBwKNchViOwSoZETw5SSLqgOqkabokkmZPWIsaWY0d+lv7VIa/k6zaVruJu3MNrrZP1dClGbXNwjg4sT++pPNJNkmoSGvLszSM+0FTT5K6uXKYySL89Qqs6QG92DMzKJUSoThi6t+gbr64v0e20qlQpjU1MUh0ZUJ/zNbXorS3Q3l1R13fYqsb9FwepTzhhkxc74IUYQac5OVEkLGVI4NjOEVobAdBS0Pg7twCCwSwrY2N77GJo6iFObxpBKe6aigXwgJkT1LVFJ4Yiqkltu4lUdKb+LhAll6O/S216mtXJDQetvzkFrDcfdUcDy9MkbPlkplyF1wWSQfiTzMwlNyR6IKti4UaiH4RSwsiNY2XGc4iTZ4RlyE3txxiexilm8oEezuY3v9Sjm8xTKZS2Z+fU23aVl2otzuFtLRJ0NDH8bJ96l6LgUHQsztoj8mCiUqlZMqN0MFoYl48gQmhl8w8LFphdbdHxTARua3MfYvvuozhwiU5vWtgScMrGopKm19UEJQNhcasOEvGscGWmHggiu4bXxW9v0thborN6ivXaL/vYCRnuDbNihZPgUTJ+sqaaRKArxwwg/kNSiqaGN1BZNYeGhSxR62E4eOzuCb9ZwzQrkRsiP7aG8Zx+5qXEo55MWhUgiihgj8PG26zQWV9lZWKC/tUrWbVA2uxSMFna4DcEusS9VK5NQcl0S8lgOpiNHBsNJ7JeHRS+EThDRDSxCu0CuMk51ej/DM/dQmtiHVRmH3BBYBTBzhCpdYmISp3i78t3VzKrET9INE0jJFVs8n9chbG/jbS3TXZ+ns34Lb3cFOjs4QYdc7Cm4pvY3RISqClLxMYl10FlV9TjoaWeOLattDdGNy3TjIlFuhOLkXkYOHKK0dwajWiTUOFVKcSb0erRX1ti6tcjuwiL+zgZ5v82w4zJk9ciEO8TeLr7n4kkLgZVX7yb3lvhSq+2WSJej6ugbNp6AYOXIlEcYGt+jR35khkxlHCM/BLaAlU0cBdIxJJwsUcncwOhLGK3FjVBixCDpg5GoQY1Hh7i1jbu5QndjXm1If3eFuL2LFXSxhFZIPkrDpiR1KQNVwCw74cxBDzvoIXW9gCKdqEDXKBGVRilP72f04EFKe6aIyg7dyNUiSy6bwXQ92ivr7C6t0VxaJdzZIttrUKFHxeyRj5vg1/F8D9fI4jslQiubcCjDVMcjKiWgxU5OOZiRK2IWhiiNTFGd2qte0irW0nxaDqShxRCPKoClJDa1YZkBD3O1vUXskDB7aSgST5lEVFIkxesStXcJm1u4u+t0NhZwt1eJug0it03gdogkEtD2gaRDRwYtVzCjgEzoIv7GMS0t9XtWhagwjD08SXF6D4WZaYxqjnbUYaO5ST/0qJRKGlOaXdEjj2C3hb+xhbe+jFHfJOc1KdIma0jWN6JvOPSMHJ5IlDid2MCLUKmKnTyZYoVCdYzi8DjZ2hiFkXFy1THMQkXZvzQCJB1Jwv4zGJaEUFLXSNP0coadBt+uUAMtOUlCLekP0t4JiS0NIbE+hmRN3Q5hr4Hb2CCobyQgtsXVN/DkO18I7CANZyh+Ei1k4oCCeGCxadkKcXEEhkawqiPY1SHCUoYmXTa7G6zsrNLzuhQKOSqFMsPZCiO5KoUwQ7DbxltZxV9fwWzvkA1aOJHElAH92KAnqieSIelq0yGSw85h5kpkyzWKtXHyIxM41RGcQkJYhagaEltGpo5Xahmm5YAcaUYwyW7FWFJlEi/p+i0sy8IUQy0mPBLjHRKHofZISPOIJV0ypGkdtw3dBrR3iRo79Bs79BS0LkEgjSFp/6KkiGJpQzHI2w65fFFth1kbx6gOExcLBKbPjtdgubXMUn2BtfoqHSmGWCbVUoX9Y/u4Z+oeJorTGH2I13dwV1cJd7cxew2VfgnV+mGIL5ItUpnJYWUKCoiAZReGyJRrZIeGMSsjIFIl9jQyMCTFI4fY3kjSWxJ/20mcqaWypHQmdtWwpGdDOhD9enKSXETcs9ADdc9JJ45lGdhSYYkDgqBHT6Vql7jbIG43CNp1+p0mnsScUlazbTLZLJlMBtt2yGYKZDKFZHASngxVMSplJD3VdOust1ZYbMyx1lqg3tvS1gMpzxWzJWZHBbCj7KnuJx8VMJsBNDrEnQ6G1yP2ekpDwkikOzErsrRitwy5Z6ZInMkTZwqQK0JW3he0KuVkstjqmESaEkOVdJiljV2aHxzUGiUhkLYK+P0trNSrRbGFHxnCAZOOlaR3ib7r0Wk1aDd3aNW38XtNbOkglDDF7agdC6ReKVVS0XfHoVAoUK7UqI1OURKXbTh03YB2GBNkDOySRWD12eqssrRzjc32Io3+Jl6Y1BjymSJTw7Mcmryf2dphcnGR3lYPd7uNE8FQMU8+axNKb6zfI9asbo9Op0e906PZD5SoWoUh7OKQqmcvNHDDWOuepaEKlcowlaEhCrmszvV2NVGlLckPDlrAJIpJymyNZZxsHitbUM/Q92MloHbG0qKqF4QsbWxz4/p11hbnae6sa7tlOWeTd0TyfIzYJ5bcVr9Pp9MmDEPK5RLTs/s5cN8JpvcfwbZyrK1vcXNhiXqvQW2qwvhslba/w/L2VbY7i+y2lnD9NtlsjkKuzMjQNPsn7mdf5QgEDreuLLM6v0YlX+LIkXuZnp4Eqav22xqT9uo7rK2uceXWAtfnl2i6AeWRSUam9qjx36q32a43NSIZHZtg//6D3HPoANPjw+RtqZilPSlhhBnFONogmGYnrLR7p19fwc7ksCWXbti4IbjCljHpdfssr29w8co15m7dxOt1qZbyTI5VGa2WKGRMpXeWdL/EIc1Gg+WlRTY2N7RjenrvAY6deJyD9x0nkytyY26Fv379HXOLc0zNjvHIz45RHDLZbS9Q7yyx3VjE9VrksnkK+bIWM2bHjjGW289uvcsXn33HpQtXGKmO8Nyzz/DAsSMamRh+B8Pt0t7dYX5hka+//xtffvcDu12Xffcc5f6HHqNYHWVzt8ny2jqLK2t0un2mJiZ45OGHePj4MWbGhrURxhbUUsAkTT+oVUpDs0qY19q4o5KmdI6a9MOIRtdnbmGFv126zOUrV2i3WoyOVLn30H4O7p1hrFoiZ4t9k8a2pLGuUd/l5q2bzM/P0XNdRidmOHriUQ4feRAzV+DC1Vuc/ug8Fy78xOTkCC++/DSH753GsNq0uivUm6v4fodsJksuV6JSnmJ86CBONMyNhWU+/PA83//tAuNj47z5i9d46vGHyQrXi3rYvku7Ifef5/wXX3L6/KfstPsK1skX/4GJ6VkarS5Lq2v88NNFLl26rIH6Iw8d56VTJ3nw6CFGy0WtiBvS4ThIzSddxTjOoBnFbyuNiISH2FlM26EXRNxY2uLMp3/lk88+Y2t7mwMH9vPkzx7nkRMPsGe8Rjkj/aRJiX3QaywNISvrKywsLrBTr5PJF5g9eC97Zg8iDeY/XLjC6T+f5buvv6eQz/HyC8/w8ktPMjtToS/xq1vX/JrQOXEUhewIGavKVt3jq29/4vTHn3L56jUmpyf59W/f4LlnnqBoWUhDuhMG9Dod5hcXOffZF3x49hz1do+HH3+KV954kwOHDqlT2G52+PrbH3jvvfe5duUKszPTvPnqK7x46mn2TY2RNU2VMiuS2FRCNemdlfGkgBF0CULpJJQUTQ7DtNhodPjqh8u8+5cz/PDjBcqVIU4++xTPPP0E9+zfw1AhS8J8pY4nyhtjGVIfDGm0G2xub1FvNjT4Hh6fYGRknI4f8s23P/L+2x/x7Zc/IJ3fzz75M373m9d49MRBDMMnjPra5Ku9sHYG28zjujaXr63y8SdfcO6zz5lfmmd67xS/+w9v8vJLJ6nmCkl0Ig0ursviyiofn/+E9z/8iO16i8eefJo3f/0bjtx7SPlmq+9z8cpN3nn7XT49f45SPs+v3niN137+Igdnp3AMU22X+E4RJDX+ptRXBx2IYT/hXUJdnRxeGHF9cY2/nPmUd/5ymrX1TR56+CHefPM1Hnv4GCOVYkI30vgzkmBZ6IRpYZmWtkO1e11ava4mfnKFPMVCiXbf5fPPv+WP/9f7/PD1BcJeyIljD/Iffv9rXjr1CEMVaa9MO7HVx0vgbrC94/LXry/z4ZmzfP7N16xtrTCzf4J//Odf8dqrLzJWrSEJaWkACIKQ5bUNzpw7z1vvvsfmzi5PPPUMv/397zh25JDGthKE35xf5f33PuD9d9/Vytiv33ydN155mQOzU5ixoYBJNcoQwKSKpo0rgx7XyCPUTmoTwzLZanX58tuf+NO7f+GTz78kVyjwyzff5FdvvsLemVEcWyrjKQ+OQ8JIym4BlmViW1IVMPGiEC8MCSSgt2Icy6brepz9+Ev+/f98m+uX5wh7MdPj07z84ou8+spzHDw4SbmU9tOm9cBOJ2ZuYZsvvvqRTz7/gh8u/Mjm7hqTe0b47R9e5403X2ZmYhJb2ynFVkesrG9x5ux5/vT222xu7/DkM0/zj3/4PQ8eTgDrhjHXbi7y3rvvc/b0GUrFPL958xe89PxJZsZHtFQk2pKxkvZ6AU1Qy4oXTRrqZNJJ4Cw5rYW1TU6f/4K33vuAH/52ganpGf7lX/4Tb77+MrWhrF5Qy3FqvyRhFyShlClCIVtbpIwCvgT08r16UZNOt8df/nyO//t/vMfOZgsjlJ4em3sPH+aFF5/hZ088wPTMkE5KJNj1IzY2ely7vsKFi9e5ePkKl69dYXVjkepIgVffeF4BO7h/HxlbTD8EYcTq2janz57jrbcEsG2efuYp/vCH33P8yD1q0Nt+wN8uXuGD9//MpZ8usGd6ijdeeYXHHz3B8FBJN5bI/eVcbSoUcxXFFLIpD9OCpcQLKHdIAAAVHElEQVTdhvSNhly9ucAHH33MB3/5iKvXbnLw0EH+23/9V9545QXyjnpcBUvEVtvL0w1S0huqtfI08BbuG6Qd1yKR9WaTd989zbtvncaI8+SyJbY2t1UyH3/iIV559RRH799LPpvwoWbb49atLa5eXWB1dZvtHfGAt7g1dw0nG/HMyUd54xcvcfToveRzeU30eUHEyuompz8+z9tvvc3W9iZPP/0U//iH33L8yGEFodHr89W333HuzFmajSYPHDvK8ydPcvjgPnKOo+AI208EQiqNIUEYU8qlgEmDbSghhWHg+iFXrt1Se3H23HmuXb/F7Ows//X/+M/88rWXKDmJFAr4onxJRkO6EgZsJenISCJPQ72SeFJxKovL67z73hm++uonpib3UakOc/naVRYWbzGzb4xXXnuep559mInhYWX6azu7XLo4x41ry9hGgVy2zK0bt/juu6/pdRscP36Y115/gccefZBKuai5dzeIWFzZ5MyZc7z91ltsbKzx6GOP8MtfvMGRw4c00SnAX7l8iYW5OUaGh3noxAmO3Xsvw1Up+srGsUhNjqMhobgz8ZaQdVIb1tMuwwQwkbDL125x+uOzfPLJZ1y9dp3pqSn+9b/8Z379xiuaP9ftLwKLbG6QQzcJpCX2dHtMUgRNtp2IJHZ6fX68dJO/fPgJSytbPPDgCcYmJ/jy26/59IvzGBmfF15+ipdfPcW9hw7p9peF1RW++/YSc9dX2TO5n4Ozh7lxbY6zZ86xsbbMoYMzvP7685x85hFGakOSiKLnRywtb3L27HneffcdVleWOHr0CC8+/zyzs3vodFqsra6ytrKEY1kK1sMnjjMxOobj2JqxSCr9iaF3xD6kH2XtNEXdTT+QxgvxMlduzPPRmbOc/+RTLl++zMTYGP/tX/+V37z5GqVsuptDq+KBXly9h17YTLusU7nTfjOUfgjD/uTLv3H23NeaYDz10kmm9kxz+pPz/Psf/52VzVs8+tSD/PJ3r/GzJ54gZ+W5Pn9Lmb0A9tgDj/Hk4z/j2sUF3vrjB8xdv87M5AhvvPE8P3/xSUZHq7oPpO9FLC9v8sknn/LB+++zuHCLvbN7eOSRhxmuVVlbW2FxYY5+t8vRI/fy+uuv8/D99+M4sr3ndlcqYSit9UIlkv44wbAwkLBOWgoXchaGEfMrG5z75DM+/Ogjfvzpb9Sqw/z2N7/hF2+8yvTEKBnb1qA0SWkn/EtTyqkKasUmbQGVa4qELW3ucPr8X/nq65+ojgzzwksnmdk7w5fffs87H7zL3y5+R7mW4+lnn+DUC6cYGxnnwoWLfP/tRUq5CieffoZ79h/g6sV53n7rz/z0/Q/kcw6vv/o8v/nly8xOjitgvi9Gf4ezZz/h7XfeZmV5kaNio049x9jYKEsL81y6eJHFxQVqlQovPH+KZ596munpKTIZW01H4Etay8RxhCYZ6kh8P2Y4n3rJQU5/kP7ZrDf469ff8t4HH/DV139V9E+dOsXrr7/G/UePMFQopH39g+7idGfuXRu47t6EI4DeWlnjvQ/PceHSNfYfOMALLz3LzN5pLl+9xblPP1G13Nxe58ChfZx87iSze2a5du0GSwurPHD0AZ57+kmGhoa4emmO99/7kC8//wLP7fPzfzjFf/rDr7hn7x7d7CCSsbq+w8dnzvOnt/7E2toqTzzxGL/4xevqDZeWlvjhhx/5/vvvNNS7//5jPHfyJA8+8ADjo1p51C4jibgzjq0SJtf0g5ixAWB9KYeHA2ph0nX76sIFsDNnz1BvNLj//vv51a9/xamTzzJeq93pZtdaQEQshlLslWWrsRRJDiNppEtasK/OL/DHd97j1twiJx46walTzzCzZ1Ind+HSZc6e+5hvv/1Ws5oPPvigAtbpdMnlcpx85iQP338YL4q5euUmpz/8mPPnz7G1tcXzp07xX/7lP3LsngPqjGQs62s7nD5zVgHb3t7h+VMn+af/+FsOH9zP1k6THy9e4ezHH/Pdd99quPPII49w6rmTnDh+lGqxQD8IcYMkvyXzkcqXeMvaQCVlZVw/0KShZUseO2J5bY3PvviCDz78CxcvXaRUKvP0s8+qaB+55xCVao1cNqv2S6tFgYixQdayNK8k77vdnm40sDJZbiws8v/86U+sb2zy3HPPcfLZJ5kYH6HZlmzIOp9+9jkffvghq2urDNeGmZic5MD+/Tz44AM8fOIEe8aHdSJz8yucO3uOjz76kOWlZZ5+6mn+93/5Zx46dq9OyvdDtWGnz3zM2++8w+7uLs89+yz/9E+/54Ejh3C9gPmVdb759ns+/+xz5ubnyOdzavwl9Hvgvns1LSWL7eliW7rRTI7yoAjix2IsfQLZaWY7OBY0uz2uXr/ORx+f4dz582xubbFn7yyPPfqYGtCDhw4xNjyivEVecgMBTOyVkFgBq75Tp93tkSsNMb+ywh/feotWu82rr77Ks089wWh1CC+KaHddvvrue/701lt88803eJ7H5OQk//Dyy/z85y9zYO8e3R0i525s7PDJ+U955923uXHjFo89+ij/2z//E088/CA5y0oAWVjl9OmPef+D99jdrfPUk8LDfsfD9x9RuyRNLfPzy/z1r19x/pPz3Jq7xfjYGCdPPsupk89wz75Zsvk8vhZAzCTjrC1VqZd0/YSRyxKZYrzTILrZavHT5ct8fO4cX3/zDVs7OwwP1zh+/DiPPvoo9xy6h7HhYU3FJBsDDA2R2q0225vbbG9v4wcBleFR1re3+fNHH6nqi2d64vFHGalIG7g42pjLc/O88977/PkvH2pmRNj/7377G1588RS1gnRIJ3nPbrvL+U8+57//j//OpUuXuP/Y/fzhd7/jhWefYrRSptf3uX5zidNnzvDhR39hd2dXVe6Xv/oljz18nEpZ9m1G9LouN+bm+OjMx5w9d1bP27tvH08/9SSPP/ooB/bvpTA0lEYuyYb/24D1vXTvo5lQUPEKg4czbO/u8tPFS3z59VdcuXqFbrdLtVbj4MGDHDp4iPHRUc3dS+hjW5ay4ka9roD1ez2NQ2sjo2zt1vnq2280E3Lq+VOcOHGcsWHZlmervVvbrfP5X7/mz3/+s6rtiePHee3Vn/PAsft0X5BogRRG/L7Lp19+xb/9278p5dm3dx8vvfA8zz39FDMT4yphN+cW+eLzz/nss89oNJscO3aUl156iYcfOs7IcFWNuSzUdr3BN9/9wKeffsq1a9fUtOzdu5fjDz7I0fvuZWpmmnKpTE7S15ZsnBlImBep2Mmuf8la9FxP9yLms9KpZ7LdaHDh0iV+uniBxYUFlQDxnFNTk9SqNVVFoRW5rLR1Q7NeV9AEyMmpaSq1mgJ249YtnGxWjf6R++5jYnyMUiGHbRipfVpM1H9zS9n5E48+QqVcVvsqKp/LOIS+x1ff/cBbb73FzRs3GK7WOHr0KI89/Ah79+zR1Pjy8go//vgjP/30ky7wgYP7ePzxxzl67Bhjo6Oah8vYFn4Ysrq2oYlEOX9+fp4gDJiZ2cN9R+7lnsP3MDk5Qa1aUdNz57kVKUkTWyQXETWScMByxONZBIGvoEkgK55pcWGReqNORuyX7Ft0XVXlcrGkn7ndHv1+j/LQEHv2zJIvFhWw7Z0dLMdhZs+MHiMjI1p8EMCl7tfqdHXwjVaTw/ccZlby9aaJL1tppPc54xAFAdfn5vjxbz+yvbWl2ZFyucz05CTjo2Oas2o0GiwtLrG8sqxEfGJijIMHDzA9Pa3URDyvSJkh/Wt9V+3cyuoKS4uL7OzuagFHONv09Axj42MKWD6b0TxZul8y2aWm4VHaoy72TJi/TEbE148jvCDQFVtfX1fvE/gBrtvH7cm2ZYtioUg2k9GCru/7lEolxsfHsaWFXJrh+n3teSiVi9r/JROVcEQ3helO6oj1zU08z9XflXI53DRTIBKcLF7Atqr8pk5WJEoO0YahoTJZJ6NOQ1Sx1Up6K8vp/UrlUgpWRu8rmRVZcQG1026zs7tDfVd29QbkczmGKkMUiyWKRSkTyh7MNKcvhUg5SXRYJEXqihLTKDcLfK1lWrath3rEMNR+BhmY2+8TBoGudDab1d+Kl5TP5FrymdQ8BYxQW6KS7KWsooCcbPqSvJMUjwM9VL1zOf1MFkkkwUlKXCptMk45RxbT83y6sqFLVDab1QUTBxREkpJJwjblUbIoei/Z8icMfrCXarDTPanDyoIIlxvsPxIV1UqSZVDKl9Ino/hSoA0UoMGzFwR1fR8L1UjAkEsLSINnVSRPF0hiriRATW4koOkENVQS75sEsLookpmVVG/K3yRol9SM73s0Gk3lgSIpMinXcxUgaWqRcEykQd7LJASIjLQzGYZKs0i7fGbL5tQ0JSPX1gUUKfJ9BcK2LS0uS2JQ0unyXiRNGnFkbklNVQrQdiIYnqd2XOxxPldIK9+ed5t8SrpP0hsyOQVA0jiOo6Iuk+/3XZUKmZAiL02/4h1FZT1ffyMXl9WW7+UzfSqBTCxIwNYBx8k95PNSsaRquL29q3aqNlzVjScCmIxFpVval+KQQDsMk6KEI5zRdvTevvS2ysOPNKZNXom2JGMbqK8AoWCIgAQhmWwCjtjpBDCxlZnEXoaRapLMVc7LSvOwbvmWLcnag5L0eKnkyCt9CFEiQGKYEzsnYp1IVbpHQvrB5Ldqb8TjWomEGYlaa4wqbcOhn6qXgJ9IsGyQktYmkXDhb6rGuax6RWFeMhmhInJvSYXrc3XSR0HoQ5FExSxTpUdAUGcl4YyZbk9OibRIYbJYIoGSxkoWTzRHJEqur+ootY1YSmrJNcSUJFpj4UjrgSaopVXprg3x2iMqT2RKJUBWUTsJxcb4iY2Ri8nKycWTtPSdB4LIuXKOVip1JZMu0WSXinTJJODKS5rsJH5M7J6ArXlutY2SGhbplusnAItEWrr6Kjn6NKnkOToC3sAByNicjKOSMZiL2rNU+gaPwBHbOPhs8EigwXcDoZFzxD6LqbCstMwmhl0nJBIljb1hqPmibqerdqFQLKqY9t2+Mm0BQ8VYG/BkRa1kYtIBZJn6V64lDF5sk0xeMnIiOTIzCarFpshvJPgdSKqocUba1cOQdrNJv9+/7YTE9vmBPHXFpFAqUSwUtOnXE08p49f7RXhuIjm5fE7bDeQ+4sllTGI7B6Bqo0wmo5RIpE8WShZGNcM06fV6ahdlzPlCQZ2UKX1jqpKpR9EOMSmTiT3Z2mZrc0N5lqRxhSJIqLS1samyKN5InwsWRXox6dYRgyvqIPxNgJPB9Xpd2u2WJhKlM1oGt7WxofXDQr6gDStifOV3cp9arabSJnxvZ2dHVU3sh4AgNk0kqVKpMjI6rPcRNe52OonaR7IYHbVFQiGqlareX+iFqJ44CbmvLHS5PEShkFdHI70gYlcFUEkyFApF5ZlyLaE/whcVtGx+UDVK2jXFOou0yIpIQ4cQOVGpibFxKkMVGo06a2trWn+UicqKC01wxEhKi6X2mJkpYAlnksE0mw0c22J0dATf81helM0LQmzLOkCxJyL2kxMTmqWQ/JmQXOF7MsFsToISdAIiMdXasFa+ZZGEpMqRPCssptls0ut2laCOjI4qvxLOWCwWlVt1ez29piyM8EBZFAF0QHOq1RpyyG/k89HRUSYmJpR827cr36nLl5UVVROxXlleZv7WnF5cUtQSgkiFZW19TaVrqFxOeFocKWB2JnkYkMSiprhqEX8x5J12GiY5TE1NEHg+83NzOqkBeZV7iNQKE5+antbry8TX1taVY+Xz8kQTtNFF3ldrVWZmZ8nnCzqx3d2dZIt1DLv1uoKkff5jozQbLQVfqIpoiYAu5LtWG6ZSGboNmKio2Ff5fHR0TIWj1WozMTHO2Pg4ubxsvxmU2fSxLL6qghhUSQbubO8oaGIjBKxqpaL6noREGQr5vKqc2BEnlS5N5Yph1kqbGOqYXq+jsaUYaUnZCF9YW1ml77ral1UqFjUVJG59uFZjZHRMUysidbtbEsB31YYKYLv1ZNVLQ2UFN5cv6HuZnKiTpJMb9QadbkdVTqRIgK/XGwqg5LnkXgJosVTS96LSYpvFsUkcLRX64ZFhXVAZo4xJzlWSLZ5XOxAlWSZ8KY7IZmTzuKHGXUATaSsXi7o6YiMkRhwYffVQUu3OJgRSWLlMVDmQuG8pxnou7WZDrykqKb8VNRBvWy4VNWDvdUVN+qrmQ5WKAqaxZUPaQF0FTF4iPa1WU+2JhE7ZXJ5ev6tSo5lRKdK2W+os5DflUol2u6OHqJ/MQXik2DzxoiK5Yu8kwyK2W76TDp1qVWytpwDKb0TrxKGIjU56XAMJuCXjFJF1EuMnfER6w8RTCMsWoykEUrlYICFT6iGFVIo6ahE4IX9CJ8Qgi5SJHet12vo7yTzISokHEmmWtInYDrfbTxbCtnUSYpvE64mnlt+rOpimSlO321HeJOospkAkM/Fy4pnR64idUyOfzdLv9VUYZDFyElEEoUptwui13SThlbInqttVSS6VRKKTuFpUVb2v51EopjzMFbIq5WwhdppilvbrWO1NFCTxmHwudinxRpLDl5SjPErGUpulJbowIX+aiJQJiKeU+EwYdByREzshZNAXGpOEUEITNFhPY887MaaB77qJF85kVHpE2mVRBBwBRK4lCyFHwqeExsgmiyTVLlIjbF48raicSorUIFKCq+RW+XnCGRNKAln1ygnd1ihGY0x5llBKK9xB46sE2fr8iiQ21H6JdDuqdLQMYkb9LiWt2q4uZFP7MiRKSB5ZIIPR3WTa+y/SmzxNKSmRJ5xPJyk9WJGw6+Q3t+8hT5IK0gBaJi+TSld9QJIH5FI4lAbwgzENAvrkGQrp5AfBy93zSALvJHJICijaNGQlTxDVcUqBOn3Wo9jhpAMx5fkDT6MlIZGeNDRKtqqlD+FRA5UCmj4yV1ZIckC3n4uULFuaLtKnoSpVGEQGkp1VsOSSuijyeMA0ekhDs7sDeu3YELXRuDWRBpFksY9yH5FcWQxtG0/BkmEmsbCAmUQpg7AtabFPFkCOJJORNp4kuCp4g+hAH5s1yHYkvTt3AqP0qSn6o3RPUnKFFPE7X6TLcvvEwSML0jvq10nIoptD0ngyif/uGuDgEZ/awXxnNQfPObv7Gjr5dLGUsUvDgzSNpPZrcK90BLfBULojZuQuyR4syO2nhN71YLUE7L8Hc/B18oS6//X6n0bg/wW6N9HN0J3gTg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0724" name="Picture 4" descr="CMR College of Pharmacy updated... - CMR College of Pharmacy"/>
          <p:cNvPicPr>
            <a:picLocks noChangeAspect="1" noChangeArrowheads="1"/>
          </p:cNvPicPr>
          <p:nvPr/>
        </p:nvPicPr>
        <p:blipFill>
          <a:blip r:embed="rId2"/>
          <a:srcRect/>
          <a:stretch>
            <a:fillRect/>
          </a:stretch>
        </p:blipFill>
        <p:spPr bwMode="auto">
          <a:xfrm>
            <a:off x="381000" y="228600"/>
            <a:ext cx="1295400" cy="1143000"/>
          </a:xfrm>
          <a:prstGeom prst="rect">
            <a:avLst/>
          </a:prstGeom>
          <a:noFill/>
        </p:spPr>
      </p:pic>
      <p:sp>
        <p:nvSpPr>
          <p:cNvPr id="30726" name="AutoShape 6" descr="CMRCET HYDERABAD - 2021 Admission Process, Ranking, Reviews, Affiliati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IN"/>
          </a:p>
        </p:txBody>
      </p:sp>
      <p:sp>
        <p:nvSpPr>
          <p:cNvPr id="44" name="CustomShape 2"/>
          <p:cNvSpPr/>
          <p:nvPr/>
        </p:nvSpPr>
        <p:spPr>
          <a:xfrm>
            <a:off x="457200" y="457200"/>
            <a:ext cx="8381160" cy="577440"/>
          </a:xfrm>
          <a:prstGeom prst="rect">
            <a:avLst/>
          </a:prstGeom>
        </p:spPr>
        <p:txBody>
          <a:bodyPr lIns="90000" tIns="45000" rIns="90000" bIns="45000"/>
          <a:lstStyle/>
          <a:p>
            <a:pPr>
              <a:lnSpc>
                <a:spcPct val="100000"/>
              </a:lnSpc>
            </a:pPr>
            <a:r>
              <a:rPr lang="en-IN" sz="3200" b="1" dirty="0">
                <a:solidFill>
                  <a:srgbClr val="C00000"/>
                </a:solidFill>
                <a:latin typeface="Calibri"/>
              </a:rPr>
              <a:t>Outline</a:t>
            </a:r>
            <a:endParaRPr>
              <a:solidFill>
                <a:srgbClr val="C00000"/>
              </a:solidFill>
            </a:endParaRPr>
          </a:p>
        </p:txBody>
      </p:sp>
      <p:sp>
        <p:nvSpPr>
          <p:cNvPr id="45" name="CustomShape 3"/>
          <p:cNvSpPr/>
          <p:nvPr/>
        </p:nvSpPr>
        <p:spPr>
          <a:xfrm>
            <a:off x="381000" y="1219200"/>
            <a:ext cx="8458200" cy="5867400"/>
          </a:xfrm>
          <a:prstGeom prst="rect">
            <a:avLst/>
          </a:prstGeom>
        </p:spPr>
        <p:txBody>
          <a:bodyPr lIns="90000" tIns="45000" rIns="90000" bIns="45000"/>
          <a:lstStyle/>
          <a:p>
            <a:pPr>
              <a:buFont typeface="Arial" pitchFamily="34" charset="0"/>
              <a:buChar char="•"/>
            </a:pPr>
            <a:r>
              <a:rPr lang="en-IN" sz="2000" b="1" dirty="0">
                <a:solidFill>
                  <a:srgbClr val="000000"/>
                </a:solidFill>
                <a:latin typeface="Bookman Old Style" pitchFamily="18" charset="0"/>
              </a:rPr>
              <a:t> Abstract </a:t>
            </a:r>
          </a:p>
          <a:p>
            <a:pPr>
              <a:buFont typeface="Arial" pitchFamily="34" charset="0"/>
              <a:buChar char="•"/>
            </a:pPr>
            <a:r>
              <a:rPr lang="en-IN" sz="2000" b="1" dirty="0">
                <a:solidFill>
                  <a:srgbClr val="000000"/>
                </a:solidFill>
                <a:latin typeface="Bookman Old Style" pitchFamily="18" charset="0"/>
              </a:rPr>
              <a:t> Introduction </a:t>
            </a:r>
          </a:p>
          <a:p>
            <a:pPr>
              <a:buFont typeface="Arial"/>
              <a:buChar char="•"/>
            </a:pPr>
            <a:r>
              <a:rPr lang="en-IN" sz="2000" b="1" dirty="0">
                <a:solidFill>
                  <a:srgbClr val="000000"/>
                </a:solidFill>
                <a:latin typeface="Bookman Old Style" pitchFamily="18" charset="0"/>
              </a:rPr>
              <a:t> Research Objective</a:t>
            </a:r>
          </a:p>
          <a:p>
            <a:pPr>
              <a:buFont typeface="Arial" pitchFamily="34" charset="0"/>
              <a:buChar char="•"/>
            </a:pPr>
            <a:r>
              <a:rPr lang="en-IN" sz="2000" b="1" dirty="0">
                <a:solidFill>
                  <a:srgbClr val="000000"/>
                </a:solidFill>
                <a:latin typeface="Bookman Old Style" pitchFamily="18" charset="0"/>
              </a:rPr>
              <a:t> Problem Definition</a:t>
            </a:r>
          </a:p>
          <a:p>
            <a:pPr>
              <a:buFont typeface="Arial" pitchFamily="34" charset="0"/>
              <a:buChar char="•"/>
            </a:pPr>
            <a:r>
              <a:rPr lang="en-IN" sz="2000" b="1" dirty="0">
                <a:solidFill>
                  <a:srgbClr val="000000"/>
                </a:solidFill>
                <a:latin typeface="Bookman Old Style" pitchFamily="18" charset="0"/>
              </a:rPr>
              <a:t> Project Scope</a:t>
            </a:r>
          </a:p>
          <a:p>
            <a:pPr>
              <a:buFont typeface="Arial" pitchFamily="34" charset="0"/>
              <a:buChar char="•"/>
            </a:pPr>
            <a:r>
              <a:rPr lang="en-IN" sz="2000" b="1" dirty="0" err="1">
                <a:solidFill>
                  <a:srgbClr val="000000"/>
                </a:solidFill>
                <a:latin typeface="Bookman Old Style" pitchFamily="18" charset="0"/>
              </a:rPr>
              <a:t>Literatue</a:t>
            </a:r>
            <a:r>
              <a:rPr lang="en-IN" sz="2000" b="1" dirty="0">
                <a:solidFill>
                  <a:srgbClr val="000000"/>
                </a:solidFill>
                <a:latin typeface="Bookman Old Style" pitchFamily="18" charset="0"/>
              </a:rPr>
              <a:t> Review</a:t>
            </a:r>
          </a:p>
          <a:p>
            <a:pPr>
              <a:buFont typeface="Arial" pitchFamily="34" charset="0"/>
              <a:buChar char="•"/>
            </a:pPr>
            <a:r>
              <a:rPr lang="en-IN" sz="2000" b="1" dirty="0">
                <a:solidFill>
                  <a:srgbClr val="000000"/>
                </a:solidFill>
                <a:latin typeface="Bookman Old Style" pitchFamily="18" charset="0"/>
              </a:rPr>
              <a:t> Result</a:t>
            </a:r>
          </a:p>
          <a:p>
            <a:pPr>
              <a:buFont typeface="Arial" pitchFamily="34" charset="0"/>
              <a:buChar char="•"/>
            </a:pPr>
            <a:r>
              <a:rPr lang="en-IN" sz="2000" b="1" dirty="0">
                <a:solidFill>
                  <a:srgbClr val="000000"/>
                </a:solidFill>
                <a:latin typeface="Bookman Old Style" pitchFamily="18" charset="0"/>
              </a:rPr>
              <a:t> Conclusion</a:t>
            </a:r>
          </a:p>
          <a:p>
            <a:pPr>
              <a:buFont typeface="Arial" pitchFamily="34" charset="0"/>
              <a:buChar char="•"/>
            </a:pPr>
            <a:r>
              <a:rPr lang="en-IN" sz="2000" b="1" dirty="0">
                <a:solidFill>
                  <a:srgbClr val="000000"/>
                </a:solidFill>
                <a:latin typeface="Bookman Old Style" pitchFamily="18" charset="0"/>
              </a:rPr>
              <a:t> References</a:t>
            </a:r>
          </a:p>
          <a:p>
            <a:pPr>
              <a:lnSpc>
                <a:spcPct val="150000"/>
              </a:lnSpc>
            </a:pPr>
            <a:endParaRPr lang="en-IN" sz="2800" b="1" dirty="0">
              <a:solidFill>
                <a:srgbClr val="000000"/>
              </a:solidFill>
              <a:latin typeface="Calibri"/>
            </a:endParaRPr>
          </a:p>
          <a:p>
            <a:pPr>
              <a:lnSpc>
                <a:spcPct val="150000"/>
              </a:lnSpc>
            </a:pPr>
            <a:endParaRPr lang="en-IN" sz="2800" b="1" dirty="0">
              <a:solidFill>
                <a:srgbClr val="000000"/>
              </a:solidFill>
              <a:latin typeface="Calibri"/>
            </a:endParaRPr>
          </a:p>
          <a:p>
            <a:pPr>
              <a:lnSpc>
                <a:spcPct val="150000"/>
              </a:lnSpc>
            </a:pPr>
            <a:r>
              <a:rPr lang="en-IN" sz="2800" b="1" dirty="0">
                <a:solidFill>
                  <a:srgbClr val="000000"/>
                </a:solidFill>
                <a:latin typeface="Calibri"/>
              </a:rPr>
              <a:t>	</a:t>
            </a:r>
            <a:endParaRPr dirty="0"/>
          </a:p>
          <a:p>
            <a:pPr>
              <a:lnSpc>
                <a:spcPct val="100000"/>
              </a:lnSpc>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74080"/>
            <a:ext cx="815256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itchFamily="34" charset="0"/>
              </a:rPr>
              <a:t>Abstract </a:t>
            </a:r>
            <a:endParaRPr>
              <a:latin typeface="Arial Black" pitchFamily="34" charset="0"/>
            </a:endParaRPr>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5" name="TextBox 4"/>
          <p:cNvSpPr txBox="1"/>
          <p:nvPr/>
        </p:nvSpPr>
        <p:spPr>
          <a:xfrm>
            <a:off x="533400" y="545068"/>
            <a:ext cx="3657600" cy="584775"/>
          </a:xfrm>
          <a:prstGeom prst="rect">
            <a:avLst/>
          </a:prstGeom>
          <a:noFill/>
        </p:spPr>
        <p:txBody>
          <a:bodyPr wrap="square" rtlCol="0">
            <a:spAutoFit/>
          </a:bodyPr>
          <a:lstStyle/>
          <a:p>
            <a:r>
              <a:rPr lang="en-US" sz="3200" b="1" dirty="0">
                <a:solidFill>
                  <a:srgbClr val="C00000"/>
                </a:solidFill>
                <a:latin typeface="Calibri" pitchFamily="34" charset="0"/>
              </a:rPr>
              <a:t>ABSTRACT</a:t>
            </a:r>
          </a:p>
        </p:txBody>
      </p:sp>
      <p:sp>
        <p:nvSpPr>
          <p:cNvPr id="3" name="TextBox 2">
            <a:extLst>
              <a:ext uri="{FF2B5EF4-FFF2-40B4-BE49-F238E27FC236}">
                <a16:creationId xmlns:a16="http://schemas.microsoft.com/office/drawing/2014/main" id="{D706FE9F-3256-55D0-542E-73BDCFC4DE86}"/>
              </a:ext>
            </a:extLst>
          </p:cNvPr>
          <p:cNvSpPr txBox="1"/>
          <p:nvPr/>
        </p:nvSpPr>
        <p:spPr>
          <a:xfrm>
            <a:off x="457200" y="1777266"/>
            <a:ext cx="8381160" cy="3057247"/>
          </a:xfrm>
          <a:prstGeom prst="rect">
            <a:avLst/>
          </a:prstGeom>
          <a:noFill/>
        </p:spPr>
        <p:txBody>
          <a:bodyPr wrap="square">
            <a:spAutoFit/>
          </a:bodyPr>
          <a:lstStyle/>
          <a:p>
            <a:pPr algn="just">
              <a:spcAft>
                <a:spcPts val="1000"/>
              </a:spcAft>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In recent times, knowledge discovery in databases has become a valuable tool for extracting meaningful and useful information. Frequent pattern mining and association rule mining have been widely explored for various real-life applications. However, traditional mining algorithms that rely on centralized and memory-resident data face limitations in terms of handling large datasets, bandwidth constraints, and energy consumption in distributed databases, especially in the context of big data.</a:t>
            </a:r>
          </a:p>
          <a:p>
            <a:pPr algn="just">
              <a:spcAft>
                <a:spcPts val="1000"/>
              </a:spcAft>
            </a:pP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1000"/>
              </a:spcAft>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To address these challenges and enhance performance, we present </a:t>
            </a:r>
            <a:r>
              <a:rPr lang="en-IN" sz="1600" dirty="0">
                <a:latin typeface="Times New Roman" panose="02020603050405020304" pitchFamily="18" charset="0"/>
                <a:ea typeface="Calibri" panose="020F0502020204030204" pitchFamily="34" charset="0"/>
                <a:cs typeface="Times New Roman" panose="02020603050405020304" pitchFamily="18" charset="0"/>
              </a:rPr>
              <a:t>a website</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 based on FP growth. These algorithms efficiently discover frequent patterns (FPs) while offering fast and scalable service in distributed computing environments. Additionally, we propose a compact data structure for storing items and counts, reducing data transmission overhead on the network.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228600" y="4267200"/>
            <a:ext cx="8381520" cy="75480"/>
          </a:xfrm>
          <a:prstGeom prst="rect">
            <a:avLst/>
          </a:prstGeom>
          <a:solidFill>
            <a:srgbClr val="7030A0"/>
          </a:solidFill>
          <a:ln w="25560">
            <a:solidFill>
              <a:srgbClr val="3A5F8B"/>
            </a:solidFill>
            <a:round/>
          </a:ln>
        </p:spPr>
        <p:txBody>
          <a:bodyPr/>
          <a:lstStyle/>
          <a:p>
            <a:endParaRPr lang="en-IN"/>
          </a:p>
        </p:txBody>
      </p:sp>
      <p:sp>
        <p:nvSpPr>
          <p:cNvPr id="47" name="CustomShape 2"/>
          <p:cNvSpPr/>
          <p:nvPr/>
        </p:nvSpPr>
        <p:spPr>
          <a:xfrm>
            <a:off x="-914400" y="3429000"/>
            <a:ext cx="1089660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a:rPr>
              <a:t>I</a:t>
            </a:r>
            <a:r>
              <a:rPr lang="en-IN" sz="3200" b="1" dirty="0">
                <a:solidFill>
                  <a:srgbClr val="000000"/>
                </a:solidFill>
                <a:latin typeface="Arial Black"/>
              </a:rPr>
              <a:t>NTRODUCTION</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IN"/>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IN" sz="3200" b="1" dirty="0">
                <a:solidFill>
                  <a:srgbClr val="C00000"/>
                </a:solidFill>
                <a:latin typeface="Calibri"/>
              </a:rPr>
              <a:t>Introduction</a:t>
            </a:r>
            <a:endParaRPr>
              <a:solidFill>
                <a:srgbClr val="C00000"/>
              </a:solidFill>
            </a:endParaRPr>
          </a:p>
        </p:txBody>
      </p:sp>
      <p:sp>
        <p:nvSpPr>
          <p:cNvPr id="5" name="TextBox 4"/>
          <p:cNvSpPr txBox="1"/>
          <p:nvPr/>
        </p:nvSpPr>
        <p:spPr>
          <a:xfrm>
            <a:off x="304800" y="1447800"/>
            <a:ext cx="7620000" cy="369332"/>
          </a:xfrm>
          <a:prstGeom prst="rect">
            <a:avLst/>
          </a:prstGeom>
          <a:noFill/>
        </p:spPr>
        <p:txBody>
          <a:bodyPr wrap="square" rtlCol="0">
            <a:spAutoFit/>
          </a:bodyPr>
          <a:lstStyle/>
          <a:p>
            <a:endParaRPr lang="en-US"/>
          </a:p>
        </p:txBody>
      </p:sp>
      <p:sp>
        <p:nvSpPr>
          <p:cNvPr id="6" name="TextBox 5">
            <a:extLst>
              <a:ext uri="{FF2B5EF4-FFF2-40B4-BE49-F238E27FC236}">
                <a16:creationId xmlns:a16="http://schemas.microsoft.com/office/drawing/2014/main" id="{5F5E5EF2-9850-B929-F3C3-C0A16F0DCB21}"/>
              </a:ext>
            </a:extLst>
          </p:cNvPr>
          <p:cNvSpPr txBox="1"/>
          <p:nvPr/>
        </p:nvSpPr>
        <p:spPr>
          <a:xfrm>
            <a:off x="457200" y="1447800"/>
            <a:ext cx="4760536" cy="3046988"/>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In traditional mining algorithms, data are centralized and memory-resident. As a result of the large amount of data, bandwidth limitation, and energy limitations when applying these methods to distributed databases, especially in this era of big data, the performance is not effective enough. Hence, data mining on distributed environments has emerged as an important research area. The use of field programmable gate array (FPGA) for implementing parallel computing was also proposed by </a:t>
            </a:r>
            <a:r>
              <a:rPr lang="en-US" sz="1600" dirty="0" err="1">
                <a:latin typeface="Times New Roman" panose="02020603050405020304" pitchFamily="18" charset="0"/>
                <a:cs typeface="Times New Roman" panose="02020603050405020304" pitchFamily="18" charset="0"/>
              </a:rPr>
              <a:t>Tehreem</a:t>
            </a:r>
            <a:r>
              <a:rPr lang="en-US" sz="1600" dirty="0">
                <a:latin typeface="Times New Roman" panose="02020603050405020304" pitchFamily="18" charset="0"/>
                <a:cs typeface="Times New Roman" panose="02020603050405020304" pitchFamily="18" charset="0"/>
              </a:rPr>
              <a:t> et al. </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0652B26-F101-4B5D-BE0F-46CD7DC89A56}"/>
              </a:ext>
            </a:extLst>
          </p:cNvPr>
          <p:cNvSpPr txBox="1"/>
          <p:nvPr/>
        </p:nvSpPr>
        <p:spPr>
          <a:xfrm>
            <a:off x="457200" y="4572000"/>
            <a:ext cx="8381160" cy="181588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To improve the execution time and the redundant execution cost, we propose a distributed and parallel computing method called DFP (distributed frequent pattern mining)</a:t>
            </a:r>
            <a:r>
              <a:rPr lang="en-US" sz="1600" dirty="0">
                <a:solidFill>
                  <a:prstClr val="black"/>
                </a:solidFill>
                <a:latin typeface="Times New Roman" panose="02020603050405020304" pitchFamily="18" charset="0"/>
                <a:cs typeface="Times New Roman" panose="02020603050405020304" pitchFamily="18" charset="0"/>
              </a:rPr>
              <a:t> in the website</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The basic flow of DFP is as follows. The primary contributions of this study are: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(1) a set of algorithms based on FP growth that discover FPs that are capable of providing fast and scalable service in distributed computing environments and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(2) a brief data structure to store items and counts to minimize the data for transmission on the network.</a:t>
            </a:r>
            <a:endParaRPr lang="en-IN" dirty="0"/>
          </a:p>
        </p:txBody>
      </p:sp>
      <p:pic>
        <p:nvPicPr>
          <p:cNvPr id="4" name="Picture 3">
            <a:extLst>
              <a:ext uri="{FF2B5EF4-FFF2-40B4-BE49-F238E27FC236}">
                <a16:creationId xmlns:a16="http://schemas.microsoft.com/office/drawing/2014/main" id="{099CE030-B657-8F06-CADE-5FAEAFE9FFE2}"/>
              </a:ext>
            </a:extLst>
          </p:cNvPr>
          <p:cNvPicPr>
            <a:picLocks noChangeAspect="1"/>
          </p:cNvPicPr>
          <p:nvPr/>
        </p:nvPicPr>
        <p:blipFill>
          <a:blip r:embed="rId3"/>
          <a:stretch>
            <a:fillRect/>
          </a:stretch>
        </p:blipFill>
        <p:spPr>
          <a:xfrm>
            <a:off x="5217737" y="1439369"/>
            <a:ext cx="3545264" cy="28795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74080"/>
            <a:ext cx="8152560" cy="760320"/>
          </a:xfrm>
          <a:prstGeom prst="rect">
            <a:avLst/>
          </a:prstGeom>
        </p:spPr>
        <p:txBody>
          <a:bodyPr lIns="90000" tIns="45000" rIns="90000" bIns="45000"/>
          <a:lstStyle/>
          <a:p>
            <a:pPr algn="r">
              <a:lnSpc>
                <a:spcPct val="100000"/>
              </a:lnSpc>
            </a:pPr>
            <a:r>
              <a:rPr lang="en-IN" sz="4400" b="1" dirty="0">
                <a:solidFill>
                  <a:srgbClr val="000000"/>
                </a:solidFill>
                <a:latin typeface="Arial Black" pitchFamily="34" charset="0"/>
              </a:rPr>
              <a:t>Research Objective </a:t>
            </a:r>
          </a:p>
          <a:p>
            <a:pPr algn="r">
              <a:lnSpc>
                <a:spcPct val="100000"/>
              </a:lnSpc>
            </a:pPr>
            <a:r>
              <a:rPr lang="en-IN" sz="4400" b="1" dirty="0">
                <a:solidFill>
                  <a:srgbClr val="000000"/>
                </a:solidFill>
                <a:latin typeface="Arial Black" pitchFamily="34" charset="0"/>
              </a:rPr>
              <a:t> </a:t>
            </a:r>
            <a:endParaRPr>
              <a:latin typeface="Arial Black" pitchFamily="34" charset="0"/>
            </a:endParaRPr>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7" name="TextBox 6"/>
          <p:cNvSpPr txBox="1"/>
          <p:nvPr/>
        </p:nvSpPr>
        <p:spPr>
          <a:xfrm>
            <a:off x="304800" y="457200"/>
            <a:ext cx="3581400" cy="584775"/>
          </a:xfrm>
          <a:prstGeom prst="rect">
            <a:avLst/>
          </a:prstGeom>
          <a:noFill/>
        </p:spPr>
        <p:txBody>
          <a:bodyPr wrap="square" rtlCol="0">
            <a:spAutoFit/>
          </a:bodyPr>
          <a:lstStyle/>
          <a:p>
            <a:r>
              <a:rPr lang="en-US" sz="3200" b="1" dirty="0">
                <a:solidFill>
                  <a:srgbClr val="C00000"/>
                </a:solidFill>
                <a:latin typeface="Calibri" pitchFamily="34" charset="0"/>
              </a:rPr>
              <a:t>Research objective</a:t>
            </a:r>
          </a:p>
        </p:txBody>
      </p:sp>
      <p:sp>
        <p:nvSpPr>
          <p:cNvPr id="3" name="TextBox 2">
            <a:extLst>
              <a:ext uri="{FF2B5EF4-FFF2-40B4-BE49-F238E27FC236}">
                <a16:creationId xmlns:a16="http://schemas.microsoft.com/office/drawing/2014/main" id="{FE5AACC1-D966-DA00-EF78-DF2DBEA68695}"/>
              </a:ext>
            </a:extLst>
          </p:cNvPr>
          <p:cNvSpPr txBox="1"/>
          <p:nvPr/>
        </p:nvSpPr>
        <p:spPr>
          <a:xfrm>
            <a:off x="457200" y="1439882"/>
            <a:ext cx="8381160" cy="3970318"/>
          </a:xfrm>
          <a:prstGeom prst="rect">
            <a:avLst/>
          </a:prstGeom>
          <a:noFill/>
        </p:spPr>
        <p:txBody>
          <a:bodyPr wrap="square">
            <a:spAutoFit/>
          </a:bodyPr>
          <a:lstStyle/>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Data mining on distributed environments has emerged as an important research area.</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Research illustrated that FP tree-like algorithms performed better than </a:t>
            </a:r>
            <a:r>
              <a:rPr lang="en-US" dirty="0" err="1">
                <a:latin typeface="Times New Roman" panose="02020603050405020304" pitchFamily="18" charset="0"/>
                <a:cs typeface="Times New Roman" panose="02020603050405020304" pitchFamily="18" charset="0"/>
              </a:rPr>
              <a:t>Apriori</a:t>
            </a:r>
            <a:r>
              <a:rPr lang="en-US" dirty="0">
                <a:latin typeface="Times New Roman" panose="02020603050405020304" pitchFamily="18" charset="0"/>
                <a:cs typeface="Times New Roman" panose="02020603050405020304" pitchFamily="18" charset="0"/>
              </a:rPr>
              <a:t>-like algorithm based on distributed, parallel computing, and Hadoop techniques, as well as other algorithms based on the well-known framework Apache Spark, such as PFP (parallelize the FP-Growth) algorithm based on Hadoop.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Research proposed approaches to mining frequent item sets from secondary memory when the database or the data structures used in the mining are too large to fit in the main memory. </a:t>
            </a:r>
          </a:p>
          <a:p>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These research provide new opportunities but pose some challenges, such as a long execution time and redundant execution, thus resulting in waste during data mining.</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74080"/>
            <a:ext cx="815256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itchFamily="34" charset="0"/>
              </a:rPr>
              <a:t>Problem Definition   </a:t>
            </a:r>
            <a:endParaRPr dirty="0">
              <a:latin typeface="Arial Black" pitchFamily="34" charset="0"/>
            </a:endParaRPr>
          </a:p>
        </p:txBody>
      </p:sp>
      <p:sp>
        <p:nvSpPr>
          <p:cNvPr id="84" name="CustomShape 3"/>
          <p:cNvSpPr/>
          <p:nvPr/>
        </p:nvSpPr>
        <p:spPr>
          <a:xfrm>
            <a:off x="685800" y="135780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3" name="TextBox 2"/>
          <p:cNvSpPr txBox="1"/>
          <p:nvPr/>
        </p:nvSpPr>
        <p:spPr>
          <a:xfrm>
            <a:off x="304800" y="457200"/>
            <a:ext cx="3962400" cy="584775"/>
          </a:xfrm>
          <a:prstGeom prst="rect">
            <a:avLst/>
          </a:prstGeom>
          <a:noFill/>
        </p:spPr>
        <p:txBody>
          <a:bodyPr wrap="square" rtlCol="0">
            <a:spAutoFit/>
          </a:bodyPr>
          <a:lstStyle/>
          <a:p>
            <a:r>
              <a:rPr lang="en-US" sz="3200" b="1" dirty="0">
                <a:solidFill>
                  <a:srgbClr val="C00000"/>
                </a:solidFill>
                <a:latin typeface="Calibri" pitchFamily="34" charset="0"/>
              </a:rPr>
              <a:t>Problem Definition</a:t>
            </a:r>
          </a:p>
        </p:txBody>
      </p:sp>
      <p:sp>
        <p:nvSpPr>
          <p:cNvPr id="5" name="TextBox 4">
            <a:extLst>
              <a:ext uri="{FF2B5EF4-FFF2-40B4-BE49-F238E27FC236}">
                <a16:creationId xmlns:a16="http://schemas.microsoft.com/office/drawing/2014/main" id="{25551A8C-02CD-4777-0784-0465A8AB261E}"/>
              </a:ext>
            </a:extLst>
          </p:cNvPr>
          <p:cNvSpPr txBox="1"/>
          <p:nvPr/>
        </p:nvSpPr>
        <p:spPr>
          <a:xfrm>
            <a:off x="457200" y="1600200"/>
            <a:ext cx="8381160" cy="3293209"/>
          </a:xfrm>
          <a:prstGeom prst="rect">
            <a:avLst/>
          </a:prstGeom>
          <a:noFill/>
        </p:spPr>
        <p:txBody>
          <a:bodyPr wrap="square">
            <a:spAutoFit/>
          </a:bodyPr>
          <a:lstStyle/>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The FP-growth algorithm is not efficient when processing a big database. Hence, numerous algorithms related to distributed or parallel computing have emerged. However, these methods have high communication cost, insufficient memory, low computing efficiency, and redundant computing waste. Therefore, DFP was proposed based on FP growth.</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If the first stage failed during mining, then the proposed method would estimate the necessary memory and nodes for further distributed computing steps. The excellent performance of DFP is presented in the Experiment Results section. If the memory of the nodes is less than the estimated necessary memory, then the extended database projection method called mixing projection (MP) will be activated. MP is used to store compressed crucial information and develop an efficient FP tree-based mining method.  </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695A5A-ED12-F91B-6EE0-6B7B74154B05}"/>
              </a:ext>
            </a:extLst>
          </p:cNvPr>
          <p:cNvSpPr txBox="1"/>
          <p:nvPr/>
        </p:nvSpPr>
        <p:spPr>
          <a:xfrm>
            <a:off x="1981200" y="3744485"/>
            <a:ext cx="5867400" cy="584775"/>
          </a:xfrm>
          <a:prstGeom prst="rect">
            <a:avLst/>
          </a:prstGeom>
          <a:noFill/>
        </p:spPr>
        <p:txBody>
          <a:bodyPr wrap="square">
            <a:spAutoFit/>
          </a:bodyPr>
          <a:lstStyle/>
          <a:p>
            <a:r>
              <a:rPr lang="en-IN" sz="3200" b="1" dirty="0">
                <a:solidFill>
                  <a:srgbClr val="000000"/>
                </a:solidFill>
                <a:latin typeface="Arial Black" pitchFamily="34" charset="0"/>
              </a:rPr>
              <a:t>Scope Of Project</a:t>
            </a:r>
            <a:endParaRPr lang="en-IN" sz="3200" dirty="0"/>
          </a:p>
        </p:txBody>
      </p:sp>
      <p:pic>
        <p:nvPicPr>
          <p:cNvPr id="4" name="Picture 3">
            <a:extLst>
              <a:ext uri="{FF2B5EF4-FFF2-40B4-BE49-F238E27FC236}">
                <a16:creationId xmlns:a16="http://schemas.microsoft.com/office/drawing/2014/main" id="{89FEA0DC-E097-25CA-596E-93AB6BD884C3}"/>
              </a:ext>
            </a:extLst>
          </p:cNvPr>
          <p:cNvPicPr>
            <a:picLocks noChangeAspect="1"/>
          </p:cNvPicPr>
          <p:nvPr/>
        </p:nvPicPr>
        <p:blipFill>
          <a:blip r:embed="rId2"/>
          <a:stretch>
            <a:fillRect/>
          </a:stretch>
        </p:blipFill>
        <p:spPr>
          <a:xfrm>
            <a:off x="685800" y="4343400"/>
            <a:ext cx="8096190" cy="97544"/>
          </a:xfrm>
          <a:prstGeom prst="rect">
            <a:avLst/>
          </a:prstGeom>
        </p:spPr>
      </p:pic>
    </p:spTree>
    <p:extLst>
      <p:ext uri="{BB962C8B-B14F-4D97-AF65-F5344CB8AC3E}">
        <p14:creationId xmlns:p14="http://schemas.microsoft.com/office/powerpoint/2010/main" val="1231042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976966-CA64-6F77-D1D5-EF0562AD4EF3}"/>
              </a:ext>
            </a:extLst>
          </p:cNvPr>
          <p:cNvSpPr txBox="1"/>
          <p:nvPr/>
        </p:nvSpPr>
        <p:spPr>
          <a:xfrm>
            <a:off x="608760" y="310850"/>
            <a:ext cx="4572000" cy="584775"/>
          </a:xfrm>
          <a:prstGeom prst="rect">
            <a:avLst/>
          </a:prstGeom>
          <a:noFill/>
        </p:spPr>
        <p:txBody>
          <a:bodyPr wrap="square">
            <a:spAutoFit/>
          </a:bodyPr>
          <a:lstStyle/>
          <a:p>
            <a:pPr>
              <a:lnSpc>
                <a:spcPct val="100000"/>
              </a:lnSpc>
            </a:pPr>
            <a:r>
              <a:rPr lang="en-IN" sz="3200" b="1" dirty="0">
                <a:solidFill>
                  <a:srgbClr val="C00000"/>
                </a:solidFill>
                <a:latin typeface="Calibri"/>
              </a:rPr>
              <a:t>Scope</a:t>
            </a:r>
            <a:endParaRPr lang="en-IN" sz="3200" dirty="0">
              <a:solidFill>
                <a:srgbClr val="C00000"/>
              </a:solidFill>
            </a:endParaRPr>
          </a:p>
        </p:txBody>
      </p:sp>
      <p:sp>
        <p:nvSpPr>
          <p:cNvPr id="4" name="CustomShape 1">
            <a:extLst>
              <a:ext uri="{FF2B5EF4-FFF2-40B4-BE49-F238E27FC236}">
                <a16:creationId xmlns:a16="http://schemas.microsoft.com/office/drawing/2014/main" id="{289A29EC-2FA8-C5B8-0D73-4732F287C81A}"/>
              </a:ext>
            </a:extLst>
          </p:cNvPr>
          <p:cNvSpPr/>
          <p:nvPr/>
        </p:nvSpPr>
        <p:spPr>
          <a:xfrm>
            <a:off x="457200" y="820025"/>
            <a:ext cx="8381160" cy="75600"/>
          </a:xfrm>
          <a:prstGeom prst="rect">
            <a:avLst/>
          </a:prstGeom>
          <a:solidFill>
            <a:srgbClr val="7030A0"/>
          </a:solidFill>
          <a:ln w="25560">
            <a:solidFill>
              <a:srgbClr val="3A5F8B"/>
            </a:solidFill>
            <a:round/>
          </a:ln>
        </p:spPr>
        <p:txBody>
          <a:bodyPr/>
          <a:lstStyle/>
          <a:p>
            <a:endParaRPr lang="en-IN"/>
          </a:p>
        </p:txBody>
      </p:sp>
      <p:sp>
        <p:nvSpPr>
          <p:cNvPr id="6" name="TextBox 5">
            <a:extLst>
              <a:ext uri="{FF2B5EF4-FFF2-40B4-BE49-F238E27FC236}">
                <a16:creationId xmlns:a16="http://schemas.microsoft.com/office/drawing/2014/main" id="{3BC4549C-6B0A-870E-0CDC-30C7C0A82BA4}"/>
              </a:ext>
            </a:extLst>
          </p:cNvPr>
          <p:cNvSpPr txBox="1"/>
          <p:nvPr/>
        </p:nvSpPr>
        <p:spPr>
          <a:xfrm>
            <a:off x="457200" y="1130275"/>
            <a:ext cx="8381160" cy="3816429"/>
          </a:xfrm>
          <a:prstGeom prst="rect">
            <a:avLst/>
          </a:prstGeom>
          <a:noFill/>
        </p:spPr>
        <p:txBody>
          <a:bodyPr wrap="square">
            <a:spAutoFit/>
          </a:bodyPr>
          <a:lstStyle/>
          <a:p>
            <a:endParaRPr lang="en-IN" dirty="0"/>
          </a:p>
          <a:p>
            <a:r>
              <a:rPr lang="en-IN" sz="1600" dirty="0">
                <a:latin typeface="Times New Roman" panose="02020603050405020304" pitchFamily="18" charset="0"/>
                <a:cs typeface="Times New Roman" panose="02020603050405020304" pitchFamily="18" charset="0"/>
              </a:rPr>
              <a:t>1. Scalability: Distributed approaches are well-suited for handling massive datasets that cannot be processed on a single machine. They can efficiently scale out to accommodate increasing data sizes.</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2. Performance: These approaches can significantly improve the speed of pattern extraction by parallelizing the task across multiple nodes or machines.</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3. Large Dataset Analysis: Distributed pattern mining is essential for applications involving vast datasets, such as social media analytics, genomic data analysis, financial transaction data, and more.</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4. Identifying Common Patterns: This approach can efficiently extract common patterns, trends, or associations in data, enabling insights and decision-making.</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5. </a:t>
            </a:r>
            <a:r>
              <a:rPr lang="en-US" sz="1600" b="0" i="0" dirty="0">
                <a:solidFill>
                  <a:srgbClr val="374151"/>
                </a:solidFill>
                <a:effectLst/>
                <a:latin typeface="Times New Roman" panose="02020603050405020304" pitchFamily="18" charset="0"/>
                <a:cs typeface="Times New Roman" panose="02020603050405020304" pitchFamily="18" charset="0"/>
              </a:rPr>
              <a:t>Fault Tolerance: Distributed systems can be designed to be fault-tolerant, ensuring that if one machine fails, the process can continue without data loss.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4803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4AED566B-7C56-878D-2BA7-A39EF9400112}"/>
              </a:ext>
            </a:extLst>
          </p:cNvPr>
          <p:cNvSpPr/>
          <p:nvPr/>
        </p:nvSpPr>
        <p:spPr>
          <a:xfrm>
            <a:off x="533700" y="4495800"/>
            <a:ext cx="8076600" cy="76320"/>
          </a:xfrm>
          <a:prstGeom prst="rect">
            <a:avLst/>
          </a:prstGeom>
          <a:solidFill>
            <a:srgbClr val="7030A0"/>
          </a:solidFill>
          <a:ln w="25560">
            <a:solidFill>
              <a:srgbClr val="3A5F8B"/>
            </a:solidFill>
            <a:round/>
          </a:ln>
        </p:spPr>
        <p:txBody>
          <a:bodyPr/>
          <a:lstStyle/>
          <a:p>
            <a:endParaRPr lang="en-IN"/>
          </a:p>
        </p:txBody>
      </p:sp>
      <p:sp>
        <p:nvSpPr>
          <p:cNvPr id="6" name="TextBox 5">
            <a:extLst>
              <a:ext uri="{FF2B5EF4-FFF2-40B4-BE49-F238E27FC236}">
                <a16:creationId xmlns:a16="http://schemas.microsoft.com/office/drawing/2014/main" id="{A8E1CF74-9C01-1E3D-F290-7CF01EDE216F}"/>
              </a:ext>
            </a:extLst>
          </p:cNvPr>
          <p:cNvSpPr txBox="1"/>
          <p:nvPr/>
        </p:nvSpPr>
        <p:spPr>
          <a:xfrm>
            <a:off x="533700" y="3657600"/>
            <a:ext cx="8076600" cy="769441"/>
          </a:xfrm>
          <a:prstGeom prst="rect">
            <a:avLst/>
          </a:prstGeom>
          <a:noFill/>
        </p:spPr>
        <p:txBody>
          <a:bodyPr wrap="square">
            <a:spAutoFit/>
          </a:bodyPr>
          <a:lstStyle/>
          <a:p>
            <a:r>
              <a:rPr kumimoji="0" lang="en-IN" sz="4400" b="1" i="0" u="none" strike="noStrike" kern="1200" cap="none" spc="0" normalizeH="0" baseline="0" noProof="0" dirty="0">
                <a:ln>
                  <a:noFill/>
                </a:ln>
                <a:solidFill>
                  <a:srgbClr val="000000"/>
                </a:solidFill>
                <a:effectLst/>
                <a:uLnTx/>
                <a:uFillTx/>
                <a:latin typeface="Arial Black" pitchFamily="34" charset="0"/>
              </a:rPr>
              <a:t>      </a:t>
            </a:r>
            <a:r>
              <a:rPr lang="en-IN" sz="4400" b="1" dirty="0">
                <a:solidFill>
                  <a:srgbClr val="000000"/>
                </a:solidFill>
                <a:latin typeface="Arial Black" pitchFamily="34" charset="0"/>
              </a:rPr>
              <a:t>Literature Review </a:t>
            </a:r>
            <a:r>
              <a:rPr kumimoji="0" lang="en-IN" sz="4400" b="1" i="0" u="none" strike="noStrike" kern="1200" cap="none" spc="0" normalizeH="0" baseline="0" noProof="0" dirty="0">
                <a:ln>
                  <a:noFill/>
                </a:ln>
                <a:solidFill>
                  <a:srgbClr val="000000"/>
                </a:solidFill>
                <a:effectLst/>
                <a:uLnTx/>
                <a:uFillTx/>
                <a:latin typeface="Arial Black" pitchFamily="34" charset="0"/>
              </a:rPr>
              <a:t> </a:t>
            </a:r>
            <a:endParaRPr lang="en-IN" dirty="0"/>
          </a:p>
        </p:txBody>
      </p:sp>
    </p:spTree>
    <p:extLst>
      <p:ext uri="{BB962C8B-B14F-4D97-AF65-F5344CB8AC3E}">
        <p14:creationId xmlns:p14="http://schemas.microsoft.com/office/powerpoint/2010/main" val="3356017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B8837-C948-EC2D-2500-09A40D0A3E6E}"/>
              </a:ext>
            </a:extLst>
          </p:cNvPr>
          <p:cNvSpPr>
            <a:spLocks noGrp="1"/>
          </p:cNvSpPr>
          <p:nvPr>
            <p:ph type="title"/>
          </p:nvPr>
        </p:nvSpPr>
        <p:spPr/>
        <p:txBody>
          <a:bodyPr/>
          <a:lstStyle/>
          <a:p>
            <a:endParaRPr lang="en-IN"/>
          </a:p>
        </p:txBody>
      </p:sp>
      <p:sp>
        <p:nvSpPr>
          <p:cNvPr id="3" name="Subtitle 2">
            <a:extLst>
              <a:ext uri="{FF2B5EF4-FFF2-40B4-BE49-F238E27FC236}">
                <a16:creationId xmlns:a16="http://schemas.microsoft.com/office/drawing/2014/main" id="{18E7B11F-90A0-751C-ABBF-0EBA10B834AD}"/>
              </a:ext>
            </a:extLst>
          </p:cNvPr>
          <p:cNvSpPr>
            <a:spLocks noGrp="1"/>
          </p:cNvSpPr>
          <p:nvPr>
            <p:ph type="subTitle"/>
          </p:nvPr>
        </p:nvSpPr>
        <p:spPr/>
        <p:txBody>
          <a:bodyPr/>
          <a:lstStyle/>
          <a:p>
            <a:endParaRPr lang="en-IN"/>
          </a:p>
        </p:txBody>
      </p:sp>
      <p:graphicFrame>
        <p:nvGraphicFramePr>
          <p:cNvPr id="4" name="Table 2">
            <a:extLst>
              <a:ext uri="{FF2B5EF4-FFF2-40B4-BE49-F238E27FC236}">
                <a16:creationId xmlns:a16="http://schemas.microsoft.com/office/drawing/2014/main" id="{1A3B2341-D0C8-2B61-5408-27D442DFA0A7}"/>
              </a:ext>
            </a:extLst>
          </p:cNvPr>
          <p:cNvGraphicFramePr>
            <a:graphicFrameLocks noGrp="1"/>
          </p:cNvGraphicFramePr>
          <p:nvPr>
            <p:extLst>
              <p:ext uri="{D42A27DB-BD31-4B8C-83A1-F6EECF244321}">
                <p14:modId xmlns:p14="http://schemas.microsoft.com/office/powerpoint/2010/main" val="4175790245"/>
              </p:ext>
            </p:extLst>
          </p:nvPr>
        </p:nvGraphicFramePr>
        <p:xfrm>
          <a:off x="95827" y="899160"/>
          <a:ext cx="8991600" cy="5501640"/>
        </p:xfrm>
        <a:graphic>
          <a:graphicData uri="http://schemas.openxmlformats.org/drawingml/2006/table">
            <a:tbl>
              <a:tblPr firstRow="1" bandRow="1">
                <a:tableStyleId>{5C22544A-7EE6-4342-B048-85BDC9FD1C3A}</a:tableStyleId>
              </a:tblPr>
              <a:tblGrid>
                <a:gridCol w="580103">
                  <a:extLst>
                    <a:ext uri="{9D8B030D-6E8A-4147-A177-3AD203B41FA5}">
                      <a16:colId xmlns:a16="http://schemas.microsoft.com/office/drawing/2014/main" val="432745929"/>
                    </a:ext>
                  </a:extLst>
                </a:gridCol>
                <a:gridCol w="1553857">
                  <a:extLst>
                    <a:ext uri="{9D8B030D-6E8A-4147-A177-3AD203B41FA5}">
                      <a16:colId xmlns:a16="http://schemas.microsoft.com/office/drawing/2014/main" val="1998233565"/>
                    </a:ext>
                  </a:extLst>
                </a:gridCol>
                <a:gridCol w="990600">
                  <a:extLst>
                    <a:ext uri="{9D8B030D-6E8A-4147-A177-3AD203B41FA5}">
                      <a16:colId xmlns:a16="http://schemas.microsoft.com/office/drawing/2014/main" val="3760181125"/>
                    </a:ext>
                  </a:extLst>
                </a:gridCol>
                <a:gridCol w="1981200">
                  <a:extLst>
                    <a:ext uri="{9D8B030D-6E8A-4147-A177-3AD203B41FA5}">
                      <a16:colId xmlns:a16="http://schemas.microsoft.com/office/drawing/2014/main" val="1470764825"/>
                    </a:ext>
                  </a:extLst>
                </a:gridCol>
                <a:gridCol w="1905000">
                  <a:extLst>
                    <a:ext uri="{9D8B030D-6E8A-4147-A177-3AD203B41FA5}">
                      <a16:colId xmlns:a16="http://schemas.microsoft.com/office/drawing/2014/main" val="3423994347"/>
                    </a:ext>
                  </a:extLst>
                </a:gridCol>
                <a:gridCol w="1980840">
                  <a:extLst>
                    <a:ext uri="{9D8B030D-6E8A-4147-A177-3AD203B41FA5}">
                      <a16:colId xmlns:a16="http://schemas.microsoft.com/office/drawing/2014/main" val="635663868"/>
                    </a:ext>
                  </a:extLst>
                </a:gridCol>
              </a:tblGrid>
              <a:tr h="1325696">
                <a:tc>
                  <a:txBody>
                    <a:bodyPr/>
                    <a:lstStyle/>
                    <a:p>
                      <a:r>
                        <a:rPr lang="en-US" sz="1200" dirty="0" err="1">
                          <a:latin typeface="Times New Roman" panose="02020603050405020304" pitchFamily="18" charset="0"/>
                          <a:cs typeface="Times New Roman" panose="02020603050405020304" pitchFamily="18" charset="0"/>
                        </a:rPr>
                        <a:t>S.No</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Authors and Journal Name&amp; Year of publication</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Problem Statement</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Name of the Proposed solution/Method</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Solution </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Remarks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4428592"/>
                  </a:ext>
                </a:extLst>
              </a:tr>
              <a:tr h="1590836">
                <a:tc>
                  <a:txBody>
                    <a:bodyPr/>
                    <a:lstStyle/>
                    <a:p>
                      <a:r>
                        <a:rPr lang="en-US" dirty="0"/>
                        <a:t>1</a:t>
                      </a:r>
                      <a:endParaRPr lang="en-IN" dirty="0"/>
                    </a:p>
                  </a:txBody>
                  <a:tcPr/>
                </a:tc>
                <a:tc>
                  <a:txBody>
                    <a:bodyPr/>
                    <a:lstStyle/>
                    <a:p>
                      <a:r>
                        <a:rPr lang="en-US" sz="1800" dirty="0">
                          <a:solidFill>
                            <a:schemeClr val="dk1"/>
                          </a:solidFill>
                          <a:effectLst/>
                          <a:latin typeface="+mn-lt"/>
                          <a:ea typeface="+mn-ea"/>
                          <a:cs typeface="+mn-cs"/>
                        </a:rPr>
                        <a:t>Han, J. Pei, Y. Yin, and R. Mao</a:t>
                      </a:r>
                      <a:endParaRPr lang="en-IN" dirty="0"/>
                    </a:p>
                  </a:txBody>
                  <a:tcPr/>
                </a:tc>
                <a:tc>
                  <a:txBody>
                    <a:bodyPr/>
                    <a:lstStyle/>
                    <a:p>
                      <a:endParaRPr lang="en-IN"/>
                    </a:p>
                  </a:txBody>
                  <a:tcPr/>
                </a:tc>
                <a:tc>
                  <a:txBody>
                    <a:bodyPr/>
                    <a:lstStyle/>
                    <a:p>
                      <a:r>
                        <a:rPr lang="en-US" sz="1800" dirty="0">
                          <a:solidFill>
                            <a:schemeClr val="dk1"/>
                          </a:solidFill>
                          <a:effectLst/>
                          <a:latin typeface="Times New Roman" panose="02020603050405020304" pitchFamily="18" charset="0"/>
                          <a:ea typeface="+mn-ea"/>
                          <a:cs typeface="Times New Roman" panose="02020603050405020304" pitchFamily="18" charset="0"/>
                        </a:rPr>
                        <a:t>. FP Mining On Big Data Using MapReduce</a:t>
                      </a:r>
                      <a:r>
                        <a:rPr lang="en-US" sz="1800" dirty="0">
                          <a:solidFill>
                            <a:schemeClr val="dk1"/>
                          </a:solidFill>
                          <a:effectLst/>
                          <a:latin typeface="+mn-lt"/>
                          <a:ea typeface="+mn-ea"/>
                          <a:cs typeface="+mn-cs"/>
                        </a:rPr>
                        <a:t>	</a:t>
                      </a:r>
                      <a:endParaRPr lang="en-IN" dirty="0"/>
                    </a:p>
                  </a:txBody>
                  <a:tcPr/>
                </a:tc>
                <a:tc>
                  <a:txBody>
                    <a:bodyPr/>
                    <a:lstStyle/>
                    <a:p>
                      <a:r>
                        <a:rPr lang="en-US" sz="1800" dirty="0">
                          <a:solidFill>
                            <a:schemeClr val="dk1"/>
                          </a:solidFill>
                          <a:effectLst/>
                          <a:latin typeface="+mn-lt"/>
                          <a:ea typeface="+mn-ea"/>
                          <a:cs typeface="+mn-cs"/>
                        </a:rPr>
                        <a:t>MapReduce, a parallel and distributed programming model</a:t>
                      </a:r>
                      <a:endParaRPr lang="en-IN" dirty="0"/>
                    </a:p>
                  </a:txBody>
                  <a:tcPr/>
                </a:tc>
                <a:tc>
                  <a:txBody>
                    <a:bodyPr/>
                    <a:lstStyle/>
                    <a:p>
                      <a:r>
                        <a:rPr lang="en-US" sz="1800" b="0" dirty="0">
                          <a:solidFill>
                            <a:schemeClr val="dk1"/>
                          </a:solidFill>
                          <a:effectLst/>
                          <a:latin typeface="+mn-lt"/>
                          <a:ea typeface="+mn-ea"/>
                          <a:cs typeface="+mn-cs"/>
                        </a:rPr>
                        <a:t>Complexity</a:t>
                      </a:r>
                    </a:p>
                    <a:p>
                      <a:r>
                        <a:rPr lang="en-US" sz="1800" b="0" dirty="0">
                          <a:solidFill>
                            <a:schemeClr val="dk1"/>
                          </a:solidFill>
                          <a:effectLst/>
                          <a:latin typeface="+mn-lt"/>
                          <a:ea typeface="+mn-ea"/>
                          <a:cs typeface="+mn-cs"/>
                        </a:rPr>
                        <a:t>Data Shuffling Overhead</a:t>
                      </a:r>
                    </a:p>
                    <a:p>
                      <a:r>
                        <a:rPr lang="en-US" sz="1800" b="0" dirty="0">
                          <a:solidFill>
                            <a:schemeClr val="dk1"/>
                          </a:solidFill>
                          <a:effectLst/>
                          <a:latin typeface="+mn-lt"/>
                          <a:ea typeface="+mn-ea"/>
                          <a:cs typeface="+mn-cs"/>
                        </a:rPr>
                        <a:t>Limited Real-Time Processing</a:t>
                      </a:r>
                      <a:endParaRPr lang="en-IN" b="0" dirty="0"/>
                    </a:p>
                  </a:txBody>
                  <a:tcPr/>
                </a:tc>
                <a:extLst>
                  <a:ext uri="{0D108BD9-81ED-4DB2-BD59-A6C34878D82A}">
                    <a16:rowId xmlns:a16="http://schemas.microsoft.com/office/drawing/2014/main" val="3097843794"/>
                  </a:ext>
                </a:extLst>
              </a:tr>
              <a:tr h="994272">
                <a:tc>
                  <a:txBody>
                    <a:bodyPr/>
                    <a:lstStyle/>
                    <a:p>
                      <a:r>
                        <a:rPr lang="en-US" dirty="0"/>
                        <a:t>2</a:t>
                      </a:r>
                      <a:endParaRPr lang="en-IN" dirty="0"/>
                    </a:p>
                  </a:txBody>
                  <a:tcPr/>
                </a:tc>
                <a:tc>
                  <a:txBody>
                    <a:bodyPr/>
                    <a:lstStyle/>
                    <a:p>
                      <a:r>
                        <a:rPr lang="en-US" sz="1800" dirty="0" err="1">
                          <a:solidFill>
                            <a:schemeClr val="dk1"/>
                          </a:solidFill>
                          <a:effectLst/>
                          <a:latin typeface="+mn-lt"/>
                          <a:ea typeface="+mn-ea"/>
                          <a:cs typeface="+mn-cs"/>
                        </a:rPr>
                        <a:t>R.Agrawal</a:t>
                      </a:r>
                      <a:r>
                        <a:rPr lang="en-US" sz="1800" dirty="0">
                          <a:solidFill>
                            <a:schemeClr val="dk1"/>
                          </a:solidFill>
                          <a:effectLst/>
                          <a:latin typeface="+mn-lt"/>
                          <a:ea typeface="+mn-ea"/>
                          <a:cs typeface="+mn-cs"/>
                        </a:rPr>
                        <a:t>, T. </a:t>
                      </a:r>
                      <a:r>
                        <a:rPr lang="en-US" sz="1800" dirty="0" err="1">
                          <a:solidFill>
                            <a:schemeClr val="dk1"/>
                          </a:solidFill>
                          <a:effectLst/>
                          <a:latin typeface="+mn-lt"/>
                          <a:ea typeface="+mn-ea"/>
                          <a:cs typeface="+mn-cs"/>
                        </a:rPr>
                        <a:t>Imieliński</a:t>
                      </a:r>
                      <a:endParaRPr lang="en-IN" dirty="0"/>
                    </a:p>
                  </a:txBody>
                  <a:tcPr/>
                </a:tc>
                <a:tc>
                  <a:txBody>
                    <a:bodyPr/>
                    <a:lstStyle/>
                    <a:p>
                      <a:endParaRPr lang="en-IN" dirty="0"/>
                    </a:p>
                  </a:txBody>
                  <a:tcPr/>
                </a:tc>
                <a:tc>
                  <a:txBody>
                    <a:bodyPr/>
                    <a:lstStyle/>
                    <a:p>
                      <a:r>
                        <a:rPr lang="en-US" sz="1800" dirty="0">
                          <a:solidFill>
                            <a:schemeClr val="dk1"/>
                          </a:solidFill>
                          <a:effectLst/>
                          <a:latin typeface="+mn-lt"/>
                          <a:ea typeface="+mn-ea"/>
                          <a:cs typeface="+mn-cs"/>
                        </a:rPr>
                        <a:t>Association Rule Mining 	</a:t>
                      </a:r>
                      <a:endParaRPr lang="en-IN" dirty="0"/>
                    </a:p>
                  </a:txBody>
                  <a:tcPr/>
                </a:tc>
                <a:tc>
                  <a:txBody>
                    <a:bodyPr/>
                    <a:lstStyle/>
                    <a:p>
                      <a:r>
                        <a:rPr lang="en-IN" dirty="0"/>
                        <a:t>Frequent Itemset Generation</a:t>
                      </a:r>
                    </a:p>
                  </a:txBody>
                  <a:tcPr/>
                </a:tc>
                <a:tc>
                  <a:txBody>
                    <a:bodyPr/>
                    <a:lstStyle/>
                    <a:p>
                      <a:r>
                        <a:rPr lang="en-US" sz="1800" b="0" dirty="0">
                          <a:solidFill>
                            <a:schemeClr val="dk1"/>
                          </a:solidFill>
                          <a:effectLst/>
                          <a:latin typeface="+mn-lt"/>
                          <a:ea typeface="+mn-ea"/>
                          <a:cs typeface="+mn-cs"/>
                        </a:rPr>
                        <a:t>Curse of Dimensionality</a:t>
                      </a:r>
                      <a:endParaRPr lang="en-IN" b="0" dirty="0"/>
                    </a:p>
                  </a:txBody>
                  <a:tcPr/>
                </a:tc>
                <a:extLst>
                  <a:ext uri="{0D108BD9-81ED-4DB2-BD59-A6C34878D82A}">
                    <a16:rowId xmlns:a16="http://schemas.microsoft.com/office/drawing/2014/main" val="3396774005"/>
                  </a:ext>
                </a:extLst>
              </a:tr>
              <a:tr h="1590836">
                <a:tc>
                  <a:txBody>
                    <a:bodyPr/>
                    <a:lstStyle/>
                    <a:p>
                      <a:r>
                        <a:rPr lang="en-US" dirty="0"/>
                        <a:t>3</a:t>
                      </a:r>
                      <a:endParaRPr lang="en-IN" dirty="0"/>
                    </a:p>
                  </a:txBody>
                  <a:tcPr/>
                </a:tc>
                <a:tc>
                  <a:txBody>
                    <a:bodyPr/>
                    <a:lstStyle/>
                    <a:p>
                      <a:r>
                        <a:rPr lang="en-US" sz="1800" dirty="0">
                          <a:solidFill>
                            <a:schemeClr val="dk1"/>
                          </a:solidFill>
                          <a:effectLst/>
                          <a:latin typeface="+mn-lt"/>
                          <a:ea typeface="+mn-ea"/>
                          <a:cs typeface="+mn-cs"/>
                        </a:rPr>
                        <a:t>A. </a:t>
                      </a:r>
                      <a:r>
                        <a:rPr lang="en-US" sz="1800" dirty="0" err="1">
                          <a:solidFill>
                            <a:schemeClr val="dk1"/>
                          </a:solidFill>
                          <a:effectLst/>
                          <a:latin typeface="+mn-lt"/>
                          <a:ea typeface="+mn-ea"/>
                          <a:cs typeface="+mn-cs"/>
                        </a:rPr>
                        <a:t>Tehreem</a:t>
                      </a:r>
                      <a:r>
                        <a:rPr lang="en-US" sz="1800" dirty="0">
                          <a:solidFill>
                            <a:schemeClr val="dk1"/>
                          </a:solidFill>
                          <a:effectLst/>
                          <a:latin typeface="+mn-lt"/>
                          <a:ea typeface="+mn-ea"/>
                          <a:cs typeface="+mn-cs"/>
                        </a:rPr>
                        <a:t>,  </a:t>
                      </a:r>
                      <a:r>
                        <a:rPr lang="en-US" sz="1800" dirty="0" err="1">
                          <a:solidFill>
                            <a:schemeClr val="dk1"/>
                          </a:solidFill>
                          <a:effectLst/>
                          <a:latin typeface="+mn-lt"/>
                          <a:ea typeface="+mn-ea"/>
                          <a:cs typeface="+mn-cs"/>
                        </a:rPr>
                        <a:t>G.Khawaja</a:t>
                      </a:r>
                      <a:endParaRPr lang="en-IN" dirty="0"/>
                    </a:p>
                  </a:txBody>
                  <a:tcPr/>
                </a:tc>
                <a:tc>
                  <a:txBody>
                    <a:bodyPr/>
                    <a:lstStyle/>
                    <a:p>
                      <a:endParaRPr lang="en-IN" dirty="0"/>
                    </a:p>
                  </a:txBody>
                  <a:tcPr/>
                </a:tc>
                <a:tc>
                  <a:txBody>
                    <a:bodyPr/>
                    <a:lstStyle/>
                    <a:p>
                      <a:r>
                        <a:rPr lang="en-US" sz="1800" dirty="0">
                          <a:solidFill>
                            <a:schemeClr val="dk1"/>
                          </a:solidFill>
                          <a:effectLst/>
                          <a:latin typeface="+mn-lt"/>
                          <a:ea typeface="+mn-ea"/>
                          <a:cs typeface="+mn-cs"/>
                        </a:rPr>
                        <a:t>Parallel Frequent Pattern Mining</a:t>
                      </a:r>
                      <a:endParaRPr lang="en-IN" dirty="0"/>
                    </a:p>
                  </a:txBody>
                  <a:tcPr/>
                </a:tc>
                <a:tc>
                  <a:txBody>
                    <a:bodyPr/>
                    <a:lstStyle/>
                    <a:p>
                      <a:r>
                        <a:rPr lang="en-US" sz="1800" dirty="0">
                          <a:solidFill>
                            <a:schemeClr val="dk1"/>
                          </a:solidFill>
                          <a:effectLst/>
                          <a:latin typeface="+mn-lt"/>
                          <a:ea typeface="+mn-ea"/>
                          <a:cs typeface="+mn-cs"/>
                        </a:rPr>
                        <a:t>leveraging parallel and distributed computing techniques</a:t>
                      </a:r>
                      <a:endParaRPr lang="en-IN" dirty="0"/>
                    </a:p>
                  </a:txBody>
                  <a:tcPr/>
                </a:tc>
                <a:tc>
                  <a:txBody>
                    <a:bodyPr/>
                    <a:lstStyle/>
                    <a:p>
                      <a:r>
                        <a:rPr lang="en-US" sz="1800" b="0" dirty="0">
                          <a:solidFill>
                            <a:schemeClr val="dk1"/>
                          </a:solidFill>
                          <a:effectLst/>
                          <a:latin typeface="+mn-lt"/>
                          <a:ea typeface="+mn-ea"/>
                          <a:cs typeface="+mn-cs"/>
                        </a:rPr>
                        <a:t>Resource Intensive</a:t>
                      </a:r>
                    </a:p>
                    <a:p>
                      <a:r>
                        <a:rPr lang="en-US" sz="1800" b="0" dirty="0">
                          <a:solidFill>
                            <a:schemeClr val="dk1"/>
                          </a:solidFill>
                          <a:effectLst/>
                          <a:latin typeface="+mn-lt"/>
                          <a:ea typeface="+mn-ea"/>
                          <a:cs typeface="+mn-cs"/>
                        </a:rPr>
                        <a:t>Load Balancing</a:t>
                      </a:r>
                      <a:endParaRPr lang="en-IN" b="0" dirty="0"/>
                    </a:p>
                  </a:txBody>
                  <a:tcPr/>
                </a:tc>
                <a:extLst>
                  <a:ext uri="{0D108BD9-81ED-4DB2-BD59-A6C34878D82A}">
                    <a16:rowId xmlns:a16="http://schemas.microsoft.com/office/drawing/2014/main" val="715288033"/>
                  </a:ext>
                </a:extLst>
              </a:tr>
            </a:tbl>
          </a:graphicData>
        </a:graphic>
      </p:graphicFrame>
      <p:sp>
        <p:nvSpPr>
          <p:cNvPr id="6" name="TextBox 5">
            <a:extLst>
              <a:ext uri="{FF2B5EF4-FFF2-40B4-BE49-F238E27FC236}">
                <a16:creationId xmlns:a16="http://schemas.microsoft.com/office/drawing/2014/main" id="{D5F54B83-4C06-2DC6-3D93-3BF9D9CBFB90}"/>
              </a:ext>
            </a:extLst>
          </p:cNvPr>
          <p:cNvSpPr txBox="1"/>
          <p:nvPr/>
        </p:nvSpPr>
        <p:spPr>
          <a:xfrm>
            <a:off x="75840" y="141545"/>
            <a:ext cx="8687160" cy="461665"/>
          </a:xfrm>
          <a:prstGeom prst="rect">
            <a:avLst/>
          </a:prstGeom>
          <a:noFill/>
        </p:spPr>
        <p:txBody>
          <a:bodyPr wrap="square">
            <a:spAutoFit/>
          </a:bodyPr>
          <a:lstStyle/>
          <a:p>
            <a:r>
              <a:rPr lang="en-IN" sz="2400" u="sng" dirty="0">
                <a:solidFill>
                  <a:srgbClr val="FF0000"/>
                </a:solidFill>
                <a:latin typeface="Times New Roman" panose="02020603050405020304" pitchFamily="18" charset="0"/>
                <a:cs typeface="Times New Roman" panose="02020603050405020304" pitchFamily="18" charset="0"/>
              </a:rPr>
              <a:t>Comparison table for the existing system</a:t>
            </a:r>
            <a:endParaRPr lang="en-US" sz="2400" u="sng"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0352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86DC100-3D47-FB02-FA3B-A8EB4C30D632}"/>
              </a:ext>
            </a:extLst>
          </p:cNvPr>
          <p:cNvSpPr>
            <a:spLocks noGrp="1"/>
          </p:cNvSpPr>
          <p:nvPr>
            <p:ph type="title"/>
          </p:nvPr>
        </p:nvSpPr>
        <p:spPr/>
        <p:txBody>
          <a:bodyPr/>
          <a:lstStyle/>
          <a:p>
            <a:endParaRPr lang="en-IN"/>
          </a:p>
        </p:txBody>
      </p:sp>
      <p:pic>
        <p:nvPicPr>
          <p:cNvPr id="7" name="Picture 6">
            <a:extLst>
              <a:ext uri="{FF2B5EF4-FFF2-40B4-BE49-F238E27FC236}">
                <a16:creationId xmlns:a16="http://schemas.microsoft.com/office/drawing/2014/main" id="{8202AECD-3A6C-9631-37EC-FE9AE9F312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40" y="598286"/>
            <a:ext cx="8915400" cy="4655194"/>
          </a:xfrm>
          <a:prstGeom prst="rect">
            <a:avLst/>
          </a:prstGeom>
        </p:spPr>
      </p:pic>
      <p:sp>
        <p:nvSpPr>
          <p:cNvPr id="11" name="Subtitle 10">
            <a:extLst>
              <a:ext uri="{FF2B5EF4-FFF2-40B4-BE49-F238E27FC236}">
                <a16:creationId xmlns:a16="http://schemas.microsoft.com/office/drawing/2014/main" id="{FED888BA-0F8C-BB5C-D118-87F17A1D5654}"/>
              </a:ext>
            </a:extLst>
          </p:cNvPr>
          <p:cNvSpPr>
            <a:spLocks noGrp="1"/>
          </p:cNvSpPr>
          <p:nvPr>
            <p:ph type="subTitle"/>
          </p:nvPr>
        </p:nvSpPr>
        <p:spPr>
          <a:xfrm>
            <a:off x="148917" y="113461"/>
            <a:ext cx="8389620" cy="468514"/>
          </a:xfrm>
        </p:spPr>
        <p:txBody>
          <a:bodyPr/>
          <a:lstStyle/>
          <a:p>
            <a:r>
              <a:rPr lang="en-US" sz="3200" b="1" dirty="0">
                <a:latin typeface="Times New Roman" panose="02020603050405020304" pitchFamily="18" charset="0"/>
                <a:cs typeface="Times New Roman" panose="02020603050405020304" pitchFamily="18" charset="0"/>
              </a:rPr>
              <a:t>MAP REDUCE</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775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F7F396-C347-3C86-20D2-858AC586F8F4}"/>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21874288-F36B-A236-7EC4-AD832F2685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39" y="1535580"/>
            <a:ext cx="9144000" cy="4114800"/>
          </a:xfrm>
          <a:prstGeom prst="rect">
            <a:avLst/>
          </a:prstGeom>
        </p:spPr>
      </p:pic>
      <p:sp>
        <p:nvSpPr>
          <p:cNvPr id="4" name="Text Placeholder 3">
            <a:extLst>
              <a:ext uri="{FF2B5EF4-FFF2-40B4-BE49-F238E27FC236}">
                <a16:creationId xmlns:a16="http://schemas.microsoft.com/office/drawing/2014/main" id="{F40909A6-8D0D-E228-647D-B5BB6FE1B0C0}"/>
              </a:ext>
            </a:extLst>
          </p:cNvPr>
          <p:cNvSpPr>
            <a:spLocks noGrp="1"/>
          </p:cNvSpPr>
          <p:nvPr>
            <p:ph type="body"/>
          </p:nvPr>
        </p:nvSpPr>
        <p:spPr>
          <a:xfrm>
            <a:off x="152400" y="304800"/>
            <a:ext cx="8046360" cy="3976920"/>
          </a:xfrm>
        </p:spPr>
        <p:txBody>
          <a:bodyPr/>
          <a:lstStyle/>
          <a:p>
            <a:r>
              <a:rPr lang="en-US" b="1" dirty="0">
                <a:latin typeface="Times New Roman" panose="02020603050405020304" pitchFamily="18" charset="0"/>
                <a:cs typeface="Times New Roman" panose="02020603050405020304" pitchFamily="18" charset="0"/>
              </a:rPr>
              <a:t>METHOLOGY</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52291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C13AA4CC-C1DE-BE87-E514-20EA42647394}"/>
              </a:ext>
            </a:extLst>
          </p:cNvPr>
          <p:cNvSpPr/>
          <p:nvPr/>
        </p:nvSpPr>
        <p:spPr>
          <a:xfrm>
            <a:off x="76200" y="1066800"/>
            <a:ext cx="8381160" cy="75600"/>
          </a:xfrm>
          <a:prstGeom prst="rect">
            <a:avLst/>
          </a:prstGeom>
          <a:solidFill>
            <a:srgbClr val="7030A0"/>
          </a:solidFill>
          <a:ln w="25560">
            <a:solidFill>
              <a:srgbClr val="3A5F8B"/>
            </a:solidFill>
            <a:round/>
          </a:ln>
        </p:spPr>
        <p:txBody>
          <a:bodyPr/>
          <a:lstStyle/>
          <a:p>
            <a:endParaRPr lang="en-IN"/>
          </a:p>
        </p:txBody>
      </p:sp>
      <p:sp>
        <p:nvSpPr>
          <p:cNvPr id="3" name="TextBox 2">
            <a:extLst>
              <a:ext uri="{FF2B5EF4-FFF2-40B4-BE49-F238E27FC236}">
                <a16:creationId xmlns:a16="http://schemas.microsoft.com/office/drawing/2014/main" id="{9137001C-166C-3E90-52DA-7BE65101A386}"/>
              </a:ext>
            </a:extLst>
          </p:cNvPr>
          <p:cNvSpPr txBox="1"/>
          <p:nvPr/>
        </p:nvSpPr>
        <p:spPr>
          <a:xfrm>
            <a:off x="76200" y="457200"/>
            <a:ext cx="8991600" cy="461665"/>
          </a:xfrm>
          <a:prstGeom prst="rect">
            <a:avLst/>
          </a:prstGeom>
          <a:noFill/>
        </p:spPr>
        <p:txBody>
          <a:bodyPr wrap="square" rtlCol="0">
            <a:spAutoFit/>
          </a:bodyPr>
          <a:lstStyle/>
          <a:p>
            <a:r>
              <a:rPr lang="en-US" sz="2400" dirty="0">
                <a:solidFill>
                  <a:srgbClr val="FF0000"/>
                </a:solidFill>
                <a:latin typeface="+mj-lt"/>
                <a:cs typeface="Times New Roman" panose="02020603050405020304" pitchFamily="18" charset="0"/>
              </a:rPr>
              <a:t>Implementation of Existing System</a:t>
            </a:r>
          </a:p>
        </p:txBody>
      </p:sp>
      <p:sp>
        <p:nvSpPr>
          <p:cNvPr id="6" name="TextBox 5">
            <a:extLst>
              <a:ext uri="{FF2B5EF4-FFF2-40B4-BE49-F238E27FC236}">
                <a16:creationId xmlns:a16="http://schemas.microsoft.com/office/drawing/2014/main" id="{47F515EA-A47D-094D-6983-8A058364E0E1}"/>
              </a:ext>
            </a:extLst>
          </p:cNvPr>
          <p:cNvSpPr txBox="1"/>
          <p:nvPr/>
        </p:nvSpPr>
        <p:spPr>
          <a:xfrm>
            <a:off x="371416" y="1174879"/>
            <a:ext cx="8077200" cy="5824928"/>
          </a:xfrm>
          <a:prstGeom prst="rect">
            <a:avLst/>
          </a:prstGeom>
          <a:noFill/>
        </p:spPr>
        <p:txBody>
          <a:bodyPr wrap="square">
            <a:spAutoFit/>
          </a:bodyPr>
          <a:lstStyle/>
          <a:p>
            <a:pPr marR="31115" algn="just">
              <a:lnSpc>
                <a:spcPct val="150000"/>
              </a:lnSpc>
            </a:pPr>
            <a:r>
              <a:rPr lang="en-US" sz="1800" b="1" dirty="0">
                <a:effectLst/>
                <a:latin typeface="Times New Roman" panose="02020603050405020304" pitchFamily="18" charset="0"/>
                <a:ea typeface="Times New Roman" panose="02020603050405020304" pitchFamily="18" charset="0"/>
              </a:rPr>
              <a:t>Market Basket Analysis:</a:t>
            </a:r>
            <a:r>
              <a:rPr lang="en-US" sz="1800" dirty="0">
                <a:effectLst/>
                <a:latin typeface="Times New Roman" panose="02020603050405020304" pitchFamily="18" charset="0"/>
                <a:ea typeface="Times New Roman" panose="02020603050405020304" pitchFamily="18" charset="0"/>
              </a:rPr>
              <a:t> Association rule mining is widely used in retail for market basket analysis. Retailers can identify which products are frequently purchased together, enabling them to optimize store layouts, cross-sell products, and run targeted promotions.</a:t>
            </a:r>
            <a:endParaRPr lang="en-IN" sz="1800" dirty="0">
              <a:effectLst/>
              <a:latin typeface="Times New Roman" panose="02020603050405020304" pitchFamily="18" charset="0"/>
              <a:ea typeface="Times New Roman" panose="02020603050405020304" pitchFamily="18" charset="0"/>
            </a:endParaRPr>
          </a:p>
          <a:p>
            <a:pPr marR="31115" algn="just">
              <a:lnSpc>
                <a:spcPct val="150000"/>
              </a:lnSpc>
            </a:pPr>
            <a:r>
              <a:rPr lang="en-US"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R="31115" algn="just">
              <a:lnSpc>
                <a:spcPct val="150000"/>
              </a:lnSpc>
            </a:pPr>
            <a:r>
              <a:rPr lang="en-US" sz="1800" b="1" dirty="0">
                <a:effectLst/>
                <a:latin typeface="Times New Roman" panose="02020603050405020304" pitchFamily="18" charset="0"/>
                <a:ea typeface="Times New Roman" panose="02020603050405020304" pitchFamily="18" charset="0"/>
              </a:rPr>
              <a:t>Cross-Selling and Recommendations:</a:t>
            </a:r>
            <a:r>
              <a:rPr lang="en-US" sz="1800" dirty="0">
                <a:effectLst/>
                <a:latin typeface="Times New Roman" panose="02020603050405020304" pitchFamily="18" charset="0"/>
                <a:ea typeface="Times New Roman" panose="02020603050405020304" pitchFamily="18" charset="0"/>
              </a:rPr>
              <a:t> E-commerce platforms and recommendation systems use association rules to suggest related products to customers. If a customer buys a camera, for example, the system might recommend camera accessories.</a:t>
            </a:r>
            <a:endParaRPr lang="en-IN" sz="1800" dirty="0">
              <a:effectLst/>
              <a:latin typeface="Times New Roman" panose="02020603050405020304" pitchFamily="18" charset="0"/>
              <a:ea typeface="Times New Roman" panose="02020603050405020304" pitchFamily="18" charset="0"/>
            </a:endParaRPr>
          </a:p>
          <a:p>
            <a:pPr marR="31115" algn="just">
              <a:lnSpc>
                <a:spcPct val="150000"/>
              </a:lnSpc>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R="31115" algn="just">
              <a:lnSpc>
                <a:spcPct val="150000"/>
              </a:lnSpc>
            </a:pPr>
            <a:r>
              <a:rPr lang="en-US" sz="1800" b="1" dirty="0">
                <a:effectLst/>
                <a:latin typeface="Times New Roman" panose="02020603050405020304" pitchFamily="18" charset="0"/>
                <a:ea typeface="Times New Roman" panose="02020603050405020304" pitchFamily="18" charset="0"/>
              </a:rPr>
              <a:t>Medical Diagnosis</a:t>
            </a:r>
            <a:r>
              <a:rPr lang="en-US" sz="1800" dirty="0">
                <a:effectLst/>
                <a:latin typeface="Times New Roman" panose="02020603050405020304" pitchFamily="18" charset="0"/>
                <a:ea typeface="Times New Roman" panose="02020603050405020304" pitchFamily="18" charset="0"/>
              </a:rPr>
              <a:t>: In healthcare, association rule mining can be used to discover relationships between symptoms and diseases. Identifying co-occurring symptoms can aid in diagnosing medical conditions.</a:t>
            </a:r>
            <a:endParaRPr lang="en-IN" sz="1800" dirty="0">
              <a:effectLst/>
              <a:latin typeface="Times New Roman" panose="02020603050405020304" pitchFamily="18" charset="0"/>
              <a:ea typeface="Times New Roman" panose="02020603050405020304" pitchFamily="18" charset="0"/>
            </a:endParaRPr>
          </a:p>
          <a:p>
            <a:pPr marR="31115" algn="just">
              <a:lnSpc>
                <a:spcPct val="150000"/>
              </a:lnSpc>
            </a:pPr>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342900" marR="31115" lvl="0" indent="-342900" algn="just">
              <a:lnSpc>
                <a:spcPct val="150000"/>
              </a:lnSpc>
              <a:spcAft>
                <a:spcPts val="0"/>
              </a:spcAft>
              <a:tabLst>
                <a:tab pos="457200" algn="l"/>
              </a:tabLst>
            </a:pPr>
            <a:endParaRPr lang="en-IN" sz="1600" dirty="0">
              <a:effectLst/>
              <a:latin typeface="Carlito"/>
              <a:ea typeface="Carlito"/>
              <a:cs typeface="Carlito"/>
            </a:endParaRPr>
          </a:p>
        </p:txBody>
      </p:sp>
    </p:spTree>
    <p:extLst>
      <p:ext uri="{BB962C8B-B14F-4D97-AF65-F5344CB8AC3E}">
        <p14:creationId xmlns:p14="http://schemas.microsoft.com/office/powerpoint/2010/main" val="26389641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C13AA4CC-C1DE-BE87-E514-20EA42647394}"/>
              </a:ext>
            </a:extLst>
          </p:cNvPr>
          <p:cNvSpPr/>
          <p:nvPr/>
        </p:nvSpPr>
        <p:spPr>
          <a:xfrm>
            <a:off x="76200" y="1066800"/>
            <a:ext cx="8381160" cy="75600"/>
          </a:xfrm>
          <a:prstGeom prst="rect">
            <a:avLst/>
          </a:prstGeom>
          <a:solidFill>
            <a:srgbClr val="7030A0"/>
          </a:solidFill>
          <a:ln w="25560">
            <a:solidFill>
              <a:srgbClr val="3A5F8B"/>
            </a:solidFill>
            <a:round/>
          </a:ln>
        </p:spPr>
        <p:txBody>
          <a:bodyPr/>
          <a:lstStyle/>
          <a:p>
            <a:endParaRPr lang="en-IN"/>
          </a:p>
        </p:txBody>
      </p:sp>
      <p:sp>
        <p:nvSpPr>
          <p:cNvPr id="3" name="TextBox 2">
            <a:extLst>
              <a:ext uri="{FF2B5EF4-FFF2-40B4-BE49-F238E27FC236}">
                <a16:creationId xmlns:a16="http://schemas.microsoft.com/office/drawing/2014/main" id="{9137001C-166C-3E90-52DA-7BE65101A386}"/>
              </a:ext>
            </a:extLst>
          </p:cNvPr>
          <p:cNvSpPr txBox="1"/>
          <p:nvPr/>
        </p:nvSpPr>
        <p:spPr>
          <a:xfrm>
            <a:off x="76200" y="457200"/>
            <a:ext cx="8991600" cy="461665"/>
          </a:xfrm>
          <a:prstGeom prst="rect">
            <a:avLst/>
          </a:prstGeom>
          <a:noFill/>
        </p:spPr>
        <p:txBody>
          <a:bodyPr wrap="square" rtlCol="0">
            <a:spAutoFit/>
          </a:bodyPr>
          <a:lstStyle/>
          <a:p>
            <a:r>
              <a:rPr lang="en-US" sz="2400" dirty="0">
                <a:solidFill>
                  <a:srgbClr val="FF0000"/>
                </a:solidFill>
                <a:latin typeface="+mj-lt"/>
                <a:cs typeface="Times New Roman" panose="02020603050405020304" pitchFamily="18" charset="0"/>
              </a:rPr>
              <a:t>Implementation of Existing System</a:t>
            </a:r>
          </a:p>
        </p:txBody>
      </p:sp>
      <p:sp>
        <p:nvSpPr>
          <p:cNvPr id="7" name="TextBox 6">
            <a:extLst>
              <a:ext uri="{FF2B5EF4-FFF2-40B4-BE49-F238E27FC236}">
                <a16:creationId xmlns:a16="http://schemas.microsoft.com/office/drawing/2014/main" id="{9E57EF2F-4069-D715-A6C7-F90EFA535150}"/>
              </a:ext>
            </a:extLst>
          </p:cNvPr>
          <p:cNvSpPr txBox="1"/>
          <p:nvPr/>
        </p:nvSpPr>
        <p:spPr>
          <a:xfrm>
            <a:off x="609600" y="1828800"/>
            <a:ext cx="7696200" cy="2956387"/>
          </a:xfrm>
          <a:prstGeom prst="rect">
            <a:avLst/>
          </a:prstGeom>
          <a:noFill/>
        </p:spPr>
        <p:txBody>
          <a:bodyPr wrap="square">
            <a:spAutoFit/>
          </a:bodyPr>
          <a:lstStyle/>
          <a:p>
            <a:pPr marL="342900" marR="31115" lvl="0" indent="-342900" algn="just">
              <a:lnSpc>
                <a:spcPct val="150000"/>
              </a:lnSpc>
              <a:spcAft>
                <a:spcPts val="0"/>
              </a:spcAft>
              <a:tabLst>
                <a:tab pos="457200" algn="l"/>
              </a:tabLst>
            </a:pPr>
            <a:r>
              <a:rPr lang="en-IN" sz="1800" b="1" dirty="0">
                <a:effectLst/>
                <a:latin typeface="Times New Roman" panose="02020603050405020304" pitchFamily="18" charset="0"/>
                <a:ea typeface="Carlito"/>
                <a:cs typeface="Carlito"/>
              </a:rPr>
              <a:t>Resource Configuration</a:t>
            </a:r>
            <a:r>
              <a:rPr lang="en-IN" sz="1800" dirty="0">
                <a:effectLst/>
                <a:latin typeface="Times New Roman" panose="02020603050405020304" pitchFamily="18" charset="0"/>
                <a:ea typeface="Carlito"/>
                <a:cs typeface="Carlito"/>
              </a:rPr>
              <a:t>: Configure the cluster's resources to ensure efficient processing, considering factors like memory, CPU, and network bandwidth.</a:t>
            </a:r>
            <a:endParaRPr lang="en-IN" sz="1600" dirty="0">
              <a:effectLst/>
              <a:latin typeface="Carlito"/>
              <a:ea typeface="Carlito"/>
              <a:cs typeface="Carlito"/>
            </a:endParaRPr>
          </a:p>
          <a:p>
            <a:pPr marL="342900" marR="31115" lvl="0" indent="-342900" algn="just">
              <a:lnSpc>
                <a:spcPct val="150000"/>
              </a:lnSpc>
              <a:spcAft>
                <a:spcPts val="0"/>
              </a:spcAft>
              <a:tabLst>
                <a:tab pos="457200" algn="l"/>
              </a:tabLst>
            </a:pPr>
            <a:r>
              <a:rPr lang="en-IN" sz="1800" b="1" dirty="0">
                <a:effectLst/>
                <a:latin typeface="Times New Roman" panose="02020603050405020304" pitchFamily="18" charset="0"/>
                <a:ea typeface="Carlito"/>
                <a:cs typeface="Carlito"/>
              </a:rPr>
              <a:t>Optimization</a:t>
            </a:r>
            <a:r>
              <a:rPr lang="en-IN" sz="1800" dirty="0">
                <a:effectLst/>
                <a:latin typeface="Times New Roman" panose="02020603050405020304" pitchFamily="18" charset="0"/>
                <a:ea typeface="Carlito"/>
                <a:cs typeface="Carlito"/>
              </a:rPr>
              <a:t>: Apply optimization techniques to handle data skew, minimize I/O, and improve overall performance.</a:t>
            </a:r>
            <a:endParaRPr lang="en-IN" sz="1600" dirty="0">
              <a:effectLst/>
              <a:latin typeface="Carlito"/>
              <a:ea typeface="Carlito"/>
              <a:cs typeface="Carlito"/>
            </a:endParaRPr>
          </a:p>
          <a:p>
            <a:pPr marL="342900" marR="31115" lvl="0" indent="-342900" algn="just">
              <a:lnSpc>
                <a:spcPct val="150000"/>
              </a:lnSpc>
              <a:spcAft>
                <a:spcPts val="0"/>
              </a:spcAft>
              <a:tabLst>
                <a:tab pos="457200" algn="l"/>
              </a:tabLst>
            </a:pPr>
            <a:r>
              <a:rPr lang="en-IN" sz="1800" b="1" dirty="0">
                <a:effectLst/>
                <a:latin typeface="Times New Roman" panose="02020603050405020304" pitchFamily="18" charset="0"/>
                <a:ea typeface="Carlito"/>
                <a:cs typeface="Carlito"/>
              </a:rPr>
              <a:t>Testing and Evaluation</a:t>
            </a:r>
            <a:r>
              <a:rPr lang="en-IN" sz="1800" dirty="0">
                <a:effectLst/>
                <a:latin typeface="Times New Roman" panose="02020603050405020304" pitchFamily="18" charset="0"/>
                <a:ea typeface="Carlito"/>
                <a:cs typeface="Carlito"/>
              </a:rPr>
              <a:t>: Thoroughly test the implementation on large datasets to ensure correctness and efficiency. Evaluate the results based on performance metrics and the quality of mined patterns.</a:t>
            </a:r>
            <a:endParaRPr lang="en-IN" sz="1600" dirty="0">
              <a:effectLst/>
              <a:latin typeface="Carlito"/>
              <a:ea typeface="Carlito"/>
              <a:cs typeface="Carlito"/>
            </a:endParaRPr>
          </a:p>
        </p:txBody>
      </p:sp>
    </p:spTree>
    <p:extLst>
      <p:ext uri="{BB962C8B-B14F-4D97-AF65-F5344CB8AC3E}">
        <p14:creationId xmlns:p14="http://schemas.microsoft.com/office/powerpoint/2010/main" val="1142142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BE692E-FE7F-DEB2-9BE8-241878A63872}"/>
              </a:ext>
            </a:extLst>
          </p:cNvPr>
          <p:cNvSpPr txBox="1"/>
          <p:nvPr/>
        </p:nvSpPr>
        <p:spPr>
          <a:xfrm>
            <a:off x="430491" y="1295400"/>
            <a:ext cx="8401016" cy="4031873"/>
          </a:xfrm>
          <a:prstGeom prst="rect">
            <a:avLst/>
          </a:prstGeom>
          <a:noFill/>
        </p:spPr>
        <p:txBody>
          <a:bodyPr wrap="square">
            <a:spAutoFit/>
          </a:bodyPr>
          <a:lstStyle/>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1</a:t>
            </a:r>
            <a:r>
              <a:rPr lang="en-IN" sz="1600" b="1" dirty="0">
                <a:latin typeface="Times New Roman" panose="02020603050405020304" pitchFamily="18" charset="0"/>
                <a:cs typeface="Times New Roman" panose="02020603050405020304" pitchFamily="18" charset="0"/>
              </a:rPr>
              <a:t>. Implementation Complexity</a:t>
            </a:r>
            <a:r>
              <a:rPr lang="en-IN" sz="1600" dirty="0">
                <a:latin typeface="Times New Roman" panose="02020603050405020304" pitchFamily="18" charset="0"/>
                <a:cs typeface="Times New Roman" panose="02020603050405020304" pitchFamily="18" charset="0"/>
              </a:rPr>
              <a:t>: Building and managing a distributed system is complex and requires expertise in distributed computing, data engineering, and distributed data storage systems.</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2. </a:t>
            </a:r>
            <a:r>
              <a:rPr lang="en-IN" sz="1600" b="1" dirty="0">
                <a:latin typeface="Times New Roman" panose="02020603050405020304" pitchFamily="18" charset="0"/>
                <a:cs typeface="Times New Roman" panose="02020603050405020304" pitchFamily="18" charset="0"/>
              </a:rPr>
              <a:t>Cost</a:t>
            </a:r>
            <a:r>
              <a:rPr lang="en-IN" sz="1600" dirty="0">
                <a:latin typeface="Times New Roman" panose="02020603050405020304" pitchFamily="18" charset="0"/>
                <a:cs typeface="Times New Roman" panose="02020603050405020304" pitchFamily="18" charset="0"/>
              </a:rPr>
              <a:t>: The hardware and infrastructure required for distributed computing can be expensive, including the cost of setting up clusters of machines and maintaining them.</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3. </a:t>
            </a:r>
            <a:r>
              <a:rPr lang="en-US" sz="1600" b="1" i="0" dirty="0">
                <a:effectLst/>
                <a:latin typeface="Times New Roman" panose="02020603050405020304" pitchFamily="18" charset="0"/>
                <a:cs typeface="Times New Roman" panose="02020603050405020304" pitchFamily="18" charset="0"/>
              </a:rPr>
              <a:t>Data Privacy and Security: </a:t>
            </a:r>
            <a:r>
              <a:rPr lang="en-US" sz="1600" b="0" i="0" dirty="0">
                <a:effectLst/>
                <a:latin typeface="Times New Roman" panose="02020603050405020304" pitchFamily="18" charset="0"/>
                <a:cs typeface="Times New Roman" panose="02020603050405020304" pitchFamily="18" charset="0"/>
              </a:rPr>
              <a:t>Distributed systems must address data privacy and security concerns, particularly when dealing with sensitive or regulated data.</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4. </a:t>
            </a:r>
            <a:r>
              <a:rPr lang="en-IN" sz="1600" b="1" dirty="0">
                <a:latin typeface="Times New Roman" panose="02020603050405020304" pitchFamily="18" charset="0"/>
                <a:cs typeface="Times New Roman" panose="02020603050405020304" pitchFamily="18" charset="0"/>
              </a:rPr>
              <a:t>Data Distribution</a:t>
            </a:r>
            <a:r>
              <a:rPr lang="en-IN" sz="1600" dirty="0">
                <a:latin typeface="Times New Roman" panose="02020603050405020304" pitchFamily="18" charset="0"/>
                <a:cs typeface="Times New Roman" panose="02020603050405020304" pitchFamily="18" charset="0"/>
              </a:rPr>
              <a:t>: Distributing data across multiple nodes can lead to data skew issues, where some nodes may have more data than others, affecting the efficiency of pattern extraction.</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5</a:t>
            </a:r>
            <a:r>
              <a:rPr lang="en-IN" sz="1600" b="1" dirty="0">
                <a:latin typeface="Times New Roman" panose="02020603050405020304" pitchFamily="18" charset="0"/>
                <a:cs typeface="Times New Roman" panose="02020603050405020304" pitchFamily="18" charset="0"/>
              </a:rPr>
              <a:t>. Algorithm Suitability</a:t>
            </a:r>
            <a:r>
              <a:rPr lang="en-IN" sz="1600" dirty="0">
                <a:latin typeface="Times New Roman" panose="02020603050405020304" pitchFamily="18" charset="0"/>
                <a:cs typeface="Times New Roman" panose="02020603050405020304" pitchFamily="18" charset="0"/>
              </a:rPr>
              <a:t>: Not all pattern mining algorithms are easily parallelizable or suitable for distributed computing. Some may not be as effective in a distributed environment.</a:t>
            </a:r>
          </a:p>
          <a:p>
            <a:r>
              <a:rPr lang="en-IN" sz="1600" dirty="0">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AE746523-A212-DD34-BA5A-A714EE11CEEC}"/>
              </a:ext>
            </a:extLst>
          </p:cNvPr>
          <p:cNvSpPr txBox="1"/>
          <p:nvPr/>
        </p:nvSpPr>
        <p:spPr>
          <a:xfrm>
            <a:off x="494907" y="228600"/>
            <a:ext cx="4572000" cy="584775"/>
          </a:xfrm>
          <a:prstGeom prst="rect">
            <a:avLst/>
          </a:prstGeom>
          <a:noFill/>
        </p:spPr>
        <p:txBody>
          <a:bodyPr wrap="square">
            <a:spAutoFit/>
          </a:bodyPr>
          <a:lstStyle/>
          <a:p>
            <a:pPr>
              <a:lnSpc>
                <a:spcPct val="100000"/>
              </a:lnSpc>
            </a:pPr>
            <a:r>
              <a:rPr lang="en-IN" sz="3200" b="1" dirty="0">
                <a:solidFill>
                  <a:srgbClr val="C00000"/>
                </a:solidFill>
                <a:latin typeface="Calibri" panose="020F0502020204030204" pitchFamily="34" charset="0"/>
                <a:ea typeface="Calibri" panose="020F0502020204030204" pitchFamily="34" charset="0"/>
                <a:cs typeface="Calibri" panose="020F0502020204030204" pitchFamily="34" charset="0"/>
              </a:rPr>
              <a:t>Limitations</a:t>
            </a:r>
            <a:endParaRPr lang="en-IN" sz="3200"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27078BAA-E0AC-4E68-E584-772904BF0C4C}"/>
              </a:ext>
            </a:extLst>
          </p:cNvPr>
          <p:cNvPicPr>
            <a:picLocks noChangeAspect="1"/>
          </p:cNvPicPr>
          <p:nvPr/>
        </p:nvPicPr>
        <p:blipFill>
          <a:blip r:embed="rId2"/>
          <a:stretch>
            <a:fillRect/>
          </a:stretch>
        </p:blipFill>
        <p:spPr>
          <a:xfrm>
            <a:off x="430491" y="813375"/>
            <a:ext cx="8401016" cy="103641"/>
          </a:xfrm>
          <a:prstGeom prst="rect">
            <a:avLst/>
          </a:prstGeom>
        </p:spPr>
      </p:pic>
    </p:spTree>
    <p:extLst>
      <p:ext uri="{BB962C8B-B14F-4D97-AF65-F5344CB8AC3E}">
        <p14:creationId xmlns:p14="http://schemas.microsoft.com/office/powerpoint/2010/main" val="3026040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44EBAA2-4E52-BB89-5463-D600B25CCED0}"/>
              </a:ext>
            </a:extLst>
          </p:cNvPr>
          <p:cNvPicPr>
            <a:picLocks noChangeAspect="1"/>
          </p:cNvPicPr>
          <p:nvPr/>
        </p:nvPicPr>
        <p:blipFill>
          <a:blip r:embed="rId2"/>
          <a:stretch>
            <a:fillRect/>
          </a:stretch>
        </p:blipFill>
        <p:spPr>
          <a:xfrm>
            <a:off x="609600" y="4267200"/>
            <a:ext cx="8096190" cy="97544"/>
          </a:xfrm>
          <a:prstGeom prst="rect">
            <a:avLst/>
          </a:prstGeom>
        </p:spPr>
      </p:pic>
      <p:sp>
        <p:nvSpPr>
          <p:cNvPr id="4" name="TextBox 3">
            <a:extLst>
              <a:ext uri="{FF2B5EF4-FFF2-40B4-BE49-F238E27FC236}">
                <a16:creationId xmlns:a16="http://schemas.microsoft.com/office/drawing/2014/main" id="{5777E4DF-DD52-BAE7-1D77-5050FC838865}"/>
              </a:ext>
            </a:extLst>
          </p:cNvPr>
          <p:cNvSpPr txBox="1"/>
          <p:nvPr/>
        </p:nvSpPr>
        <p:spPr>
          <a:xfrm>
            <a:off x="2057400" y="3611014"/>
            <a:ext cx="4419600" cy="769441"/>
          </a:xfrm>
          <a:prstGeom prst="rect">
            <a:avLst/>
          </a:prstGeom>
          <a:noFill/>
        </p:spPr>
        <p:txBody>
          <a:bodyPr wrap="square">
            <a:spAutoFit/>
          </a:bodyPr>
          <a:lstStyle/>
          <a:p>
            <a:pPr algn="ctr">
              <a:lnSpc>
                <a:spcPct val="100000"/>
              </a:lnSpc>
            </a:pPr>
            <a:r>
              <a:rPr lang="en-IN" sz="4400" b="1" dirty="0">
                <a:solidFill>
                  <a:srgbClr val="000000"/>
                </a:solidFill>
                <a:latin typeface="Arial Black" pitchFamily="34" charset="0"/>
              </a:rPr>
              <a:t> Result    </a:t>
            </a:r>
            <a:endParaRPr lang="en-IN" sz="4400" dirty="0">
              <a:latin typeface="Arial Black" pitchFamily="34" charset="0"/>
            </a:endParaRPr>
          </a:p>
        </p:txBody>
      </p:sp>
    </p:spTree>
    <p:extLst>
      <p:ext uri="{BB962C8B-B14F-4D97-AF65-F5344CB8AC3E}">
        <p14:creationId xmlns:p14="http://schemas.microsoft.com/office/powerpoint/2010/main" val="4245834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D0C270-FC44-0548-9EA7-C0739F40A942}"/>
              </a:ext>
            </a:extLst>
          </p:cNvPr>
          <p:cNvSpPr txBox="1"/>
          <p:nvPr/>
        </p:nvSpPr>
        <p:spPr>
          <a:xfrm>
            <a:off x="381000" y="316468"/>
            <a:ext cx="4572000" cy="584775"/>
          </a:xfrm>
          <a:prstGeom prst="rect">
            <a:avLst/>
          </a:prstGeom>
          <a:noFill/>
        </p:spPr>
        <p:txBody>
          <a:bodyPr wrap="square">
            <a:spAutoFit/>
          </a:bodyPr>
          <a:lstStyle/>
          <a:p>
            <a:pPr>
              <a:lnSpc>
                <a:spcPct val="100000"/>
              </a:lnSpc>
            </a:pPr>
            <a:r>
              <a:rPr lang="en-IN" sz="3200" b="1" dirty="0">
                <a:solidFill>
                  <a:srgbClr val="C00000"/>
                </a:solidFill>
                <a:latin typeface="Calibri"/>
              </a:rPr>
              <a:t>Result</a:t>
            </a:r>
            <a:endParaRPr lang="en-IN" sz="3200" dirty="0">
              <a:solidFill>
                <a:srgbClr val="C00000"/>
              </a:solidFill>
            </a:endParaRPr>
          </a:p>
        </p:txBody>
      </p:sp>
      <p:sp>
        <p:nvSpPr>
          <p:cNvPr id="4" name="CustomShape 1">
            <a:extLst>
              <a:ext uri="{FF2B5EF4-FFF2-40B4-BE49-F238E27FC236}">
                <a16:creationId xmlns:a16="http://schemas.microsoft.com/office/drawing/2014/main" id="{8D1030C1-4D71-B304-1C94-0179970F0ABC}"/>
              </a:ext>
            </a:extLst>
          </p:cNvPr>
          <p:cNvSpPr/>
          <p:nvPr/>
        </p:nvSpPr>
        <p:spPr>
          <a:xfrm>
            <a:off x="381000" y="825643"/>
            <a:ext cx="8381160" cy="75600"/>
          </a:xfrm>
          <a:prstGeom prst="rect">
            <a:avLst/>
          </a:prstGeom>
          <a:solidFill>
            <a:srgbClr val="7030A0"/>
          </a:solidFill>
          <a:ln w="25560">
            <a:solidFill>
              <a:srgbClr val="3A5F8B"/>
            </a:solidFill>
            <a:round/>
          </a:ln>
        </p:spPr>
        <p:txBody>
          <a:bodyPr/>
          <a:lstStyle/>
          <a:p>
            <a:endParaRPr lang="en-IN"/>
          </a:p>
        </p:txBody>
      </p:sp>
      <p:sp>
        <p:nvSpPr>
          <p:cNvPr id="6" name="TextBox 5">
            <a:extLst>
              <a:ext uri="{FF2B5EF4-FFF2-40B4-BE49-F238E27FC236}">
                <a16:creationId xmlns:a16="http://schemas.microsoft.com/office/drawing/2014/main" id="{38CADE7C-E99A-8B26-75EB-E38D4B002CA2}"/>
              </a:ext>
            </a:extLst>
          </p:cNvPr>
          <p:cNvSpPr txBox="1"/>
          <p:nvPr/>
        </p:nvSpPr>
        <p:spPr>
          <a:xfrm>
            <a:off x="381000" y="1143000"/>
            <a:ext cx="8381160" cy="5740033"/>
          </a:xfrm>
          <a:prstGeom prst="rect">
            <a:avLst/>
          </a:prstGeom>
          <a:noFill/>
        </p:spPr>
        <p:txBody>
          <a:bodyPr wrap="square">
            <a:spAutoFit/>
          </a:bodyPr>
          <a:lstStyle/>
          <a:p>
            <a:pPr marR="31115" indent="457200" algn="just">
              <a:lnSpc>
                <a:spcPct val="150000"/>
              </a:lnSpc>
            </a:pPr>
            <a:r>
              <a:rPr lang="en-IN" sz="1800" dirty="0">
                <a:effectLst/>
                <a:latin typeface="Times New Roman" panose="02020603050405020304" pitchFamily="18" charset="0"/>
                <a:ea typeface="Times New Roman" panose="02020603050405020304" pitchFamily="18" charset="0"/>
              </a:rPr>
              <a:t>The results of these existing solutions highlight the significance of distributed methods for frequent pattern mining from big data. They offer scalability, efficiency, and applicability in various domains. However, challenges exist in terms of implementation complexity, resource utilization, and privacy concerns.</a:t>
            </a:r>
          </a:p>
          <a:p>
            <a:pPr marR="31115" indent="457200" algn="just">
              <a:lnSpc>
                <a:spcPct val="150000"/>
              </a:lnSpc>
            </a:pPr>
            <a:r>
              <a:rPr lang="en-IN" sz="1800" dirty="0">
                <a:effectLst/>
                <a:latin typeface="Times New Roman" panose="02020603050405020304" pitchFamily="18" charset="0"/>
                <a:ea typeface="Times New Roman" panose="02020603050405020304" pitchFamily="18" charset="0"/>
              </a:rPr>
              <a:t>When choosing an approach, it's essential to consider the specific requirements of the task at hand. For instance, MapReduce-based frequent pattern mining is well-suited for scalable batch processing, while parallel frequent patterns offer real-time capabilities. Association rule mining, on the other hand, is ideal for retail and market basket analysis but must address privacy issues.</a:t>
            </a:r>
          </a:p>
          <a:p>
            <a:pPr marR="31115" indent="457200" algn="just">
              <a:lnSpc>
                <a:spcPct val="150000"/>
              </a:lnSpc>
            </a:pPr>
            <a:r>
              <a:rPr lang="en-IN" sz="1800" dirty="0">
                <a:effectLst/>
                <a:latin typeface="Times New Roman" panose="02020603050405020304" pitchFamily="18" charset="0"/>
                <a:ea typeface="Times New Roman" panose="02020603050405020304" pitchFamily="18" charset="0"/>
              </a:rPr>
              <a:t>Ultimately, the choice of method depends on the characteristics of the dataset, the desired outcomes, and the resources available for implementation. Further research and advancements in these methods are expected to address existing challenges and broaden their applicability in the era of big data</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4231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E7D52C-173A-D5BB-8B70-EC5A8525452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94873" y="1600200"/>
            <a:ext cx="6554253" cy="3277553"/>
          </a:xfrm>
          <a:prstGeom prst="rect">
            <a:avLst/>
          </a:prstGeom>
          <a:noFill/>
          <a:ln>
            <a:noFill/>
          </a:ln>
        </p:spPr>
      </p:pic>
      <p:sp>
        <p:nvSpPr>
          <p:cNvPr id="4" name="Title 3">
            <a:extLst>
              <a:ext uri="{FF2B5EF4-FFF2-40B4-BE49-F238E27FC236}">
                <a16:creationId xmlns:a16="http://schemas.microsoft.com/office/drawing/2014/main" id="{69DB5D0D-54C3-CF5C-C968-DAFA09F7FD3B}"/>
              </a:ext>
            </a:extLst>
          </p:cNvPr>
          <p:cNvSpPr>
            <a:spLocks noGrp="1"/>
          </p:cNvSpPr>
          <p:nvPr>
            <p:ph type="title"/>
          </p:nvPr>
        </p:nvSpPr>
        <p:spPr>
          <a:xfrm>
            <a:off x="3963286" y="4267200"/>
            <a:ext cx="7771680" cy="1469880"/>
          </a:xfrm>
        </p:spPr>
        <p:txBody>
          <a:bodyPr/>
          <a:lstStyle/>
          <a:p>
            <a:r>
              <a:rPr lang="en-IN" b="1" dirty="0">
                <a:latin typeface="Times New Roman" panose="02020603050405020304" pitchFamily="18" charset="0"/>
                <a:cs typeface="Times New Roman" panose="02020603050405020304" pitchFamily="18" charset="0"/>
              </a:rPr>
              <a:t>Fig</a:t>
            </a:r>
            <a:r>
              <a:rPr lang="en-IN" dirty="0">
                <a:latin typeface="Times New Roman" panose="02020603050405020304" pitchFamily="18" charset="0"/>
                <a:cs typeface="Times New Roman" panose="02020603050405020304" pitchFamily="18" charset="0"/>
              </a:rPr>
              <a:t> 1</a:t>
            </a:r>
          </a:p>
        </p:txBody>
      </p:sp>
    </p:spTree>
    <p:extLst>
      <p:ext uri="{BB962C8B-B14F-4D97-AF65-F5344CB8AC3E}">
        <p14:creationId xmlns:p14="http://schemas.microsoft.com/office/powerpoint/2010/main" val="37240912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3271" y="1077744"/>
            <a:ext cx="8381160" cy="75600"/>
          </a:xfrm>
          <a:prstGeom prst="rect">
            <a:avLst/>
          </a:prstGeom>
          <a:solidFill>
            <a:srgbClr val="7030A0"/>
          </a:solidFill>
          <a:ln w="25560">
            <a:solidFill>
              <a:srgbClr val="3A5F8B"/>
            </a:solidFill>
            <a:round/>
          </a:ln>
        </p:spPr>
        <p:txBody>
          <a:bodyPr/>
          <a:lstStyle/>
          <a:p>
            <a:endParaRPr lang="en-IN"/>
          </a:p>
        </p:txBody>
      </p:sp>
      <p:sp>
        <p:nvSpPr>
          <p:cNvPr id="5" name="CustomShape 2"/>
          <p:cNvSpPr/>
          <p:nvPr/>
        </p:nvSpPr>
        <p:spPr>
          <a:xfrm>
            <a:off x="457200" y="533400"/>
            <a:ext cx="8381160" cy="455760"/>
          </a:xfrm>
          <a:prstGeom prst="rect">
            <a:avLst/>
          </a:prstGeom>
        </p:spPr>
        <p:txBody>
          <a:bodyPr lIns="90000" tIns="45000" rIns="90000" bIns="45000"/>
          <a:lstStyle/>
          <a:p>
            <a:pPr>
              <a:lnSpc>
                <a:spcPct val="100000"/>
              </a:lnSpc>
            </a:pPr>
            <a:r>
              <a:rPr lang="en-IN" sz="3200" b="1" dirty="0">
                <a:solidFill>
                  <a:srgbClr val="C00000"/>
                </a:solidFill>
                <a:latin typeface="Calibri"/>
              </a:rPr>
              <a:t>Conclusion</a:t>
            </a:r>
            <a:endParaRPr sz="3200" dirty="0">
              <a:solidFill>
                <a:srgbClr val="C00000"/>
              </a:solidFill>
            </a:endParaRPr>
          </a:p>
        </p:txBody>
      </p:sp>
      <p:sp>
        <p:nvSpPr>
          <p:cNvPr id="3" name="TextBox 2">
            <a:extLst>
              <a:ext uri="{FF2B5EF4-FFF2-40B4-BE49-F238E27FC236}">
                <a16:creationId xmlns:a16="http://schemas.microsoft.com/office/drawing/2014/main" id="{94502CF4-7B68-D358-E570-2A3A28F3CF52}"/>
              </a:ext>
            </a:extLst>
          </p:cNvPr>
          <p:cNvSpPr txBox="1"/>
          <p:nvPr/>
        </p:nvSpPr>
        <p:spPr>
          <a:xfrm>
            <a:off x="453271" y="1524000"/>
            <a:ext cx="8394569" cy="4031873"/>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In this study, the DFP algorithm was proposed to improve the mining efficiency for association rule by distributed mechanism. In reported articles, the distributed mechanism cannot be applied easily for processing databases. Hence, the transmission cost would increase easily as communication among clients increases .Our experiments show that the proposed DFP algorithm successfully overcame this problem by transferring the mining result from the executing client to the server because the integrated information would go through the server instead of being communicated among clients. </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The proposed method , through the estimated necessary memory and clients, reduces the computing efficiency as well. The DFP algorithm overcomes </a:t>
            </a:r>
            <a:r>
              <a:rPr lang="en-IN" sz="1600" dirty="0">
                <a:latin typeface="Times New Roman" panose="02020603050405020304" pitchFamily="18" charset="0"/>
                <a:cs typeface="Times New Roman" panose="02020603050405020304" pitchFamily="18" charset="0"/>
              </a:rPr>
              <a:t>insufficient</a:t>
            </a:r>
            <a:r>
              <a:rPr lang="en-US" sz="1600" dirty="0">
                <a:latin typeface="Times New Roman" panose="02020603050405020304" pitchFamily="18" charset="0"/>
                <a:cs typeface="Times New Roman" panose="02020603050405020304" pitchFamily="18" charset="0"/>
              </a:rPr>
              <a:t> memory and repeated scans by estimating the limitation of TIDs for each client, and the remaining TIDs are processed by an extended mechanism called Mixing Projection. The proposed algorithm exhibits good performance during big data mining. In addition, the DFP algorithm can determine a suitable number of clients automatically according to various datasets. The proposed DFP algorithm shows potential for future applications.</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p:cNvSpPr/>
          <p:nvPr/>
        </p:nvSpPr>
        <p:spPr>
          <a:xfrm>
            <a:off x="381420" y="4800600"/>
            <a:ext cx="8381160" cy="75600"/>
          </a:xfrm>
          <a:prstGeom prst="rect">
            <a:avLst/>
          </a:prstGeom>
          <a:solidFill>
            <a:srgbClr val="7030A0"/>
          </a:solidFill>
          <a:ln w="25560">
            <a:solidFill>
              <a:srgbClr val="3A5F8B"/>
            </a:solidFill>
            <a:round/>
          </a:ln>
        </p:spPr>
        <p:txBody>
          <a:bodyPr/>
          <a:lstStyle/>
          <a:p>
            <a:endParaRPr lang="en-IN"/>
          </a:p>
        </p:txBody>
      </p:sp>
      <p:sp>
        <p:nvSpPr>
          <p:cNvPr id="5" name="TextBox 4">
            <a:extLst>
              <a:ext uri="{FF2B5EF4-FFF2-40B4-BE49-F238E27FC236}">
                <a16:creationId xmlns:a16="http://schemas.microsoft.com/office/drawing/2014/main" id="{C3626DB6-03E1-04EF-910C-9CB0798D5654}"/>
              </a:ext>
            </a:extLst>
          </p:cNvPr>
          <p:cNvSpPr txBox="1"/>
          <p:nvPr/>
        </p:nvSpPr>
        <p:spPr>
          <a:xfrm>
            <a:off x="2286000" y="4114800"/>
            <a:ext cx="4572000" cy="584775"/>
          </a:xfrm>
          <a:prstGeom prst="rect">
            <a:avLst/>
          </a:prstGeom>
          <a:noFill/>
        </p:spPr>
        <p:txBody>
          <a:bodyPr wrap="square">
            <a:spAutoFit/>
          </a:bodyPr>
          <a:lstStyle/>
          <a:p>
            <a:r>
              <a:rPr lang="en-IN" sz="3200" b="1" dirty="0">
                <a:latin typeface="Calibri" pitchFamily="34" charset="0"/>
              </a:rPr>
              <a:t>        References</a:t>
            </a:r>
            <a:endParaRPr lang="en-US" sz="1800" dirty="0">
              <a:latin typeface="Calibri"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stomShape 1"/>
          <p:cNvSpPr/>
          <p:nvPr/>
        </p:nvSpPr>
        <p:spPr>
          <a:xfrm>
            <a:off x="381000" y="914286"/>
            <a:ext cx="8381160" cy="75600"/>
          </a:xfrm>
          <a:prstGeom prst="rect">
            <a:avLst/>
          </a:prstGeom>
          <a:solidFill>
            <a:srgbClr val="7030A0"/>
          </a:solidFill>
          <a:ln w="25560">
            <a:solidFill>
              <a:srgbClr val="3A5F8B"/>
            </a:solidFill>
            <a:round/>
          </a:ln>
        </p:spPr>
        <p:txBody>
          <a:bodyPr/>
          <a:lstStyle/>
          <a:p>
            <a:endParaRPr lang="en-IN"/>
          </a:p>
        </p:txBody>
      </p:sp>
      <p:sp>
        <p:nvSpPr>
          <p:cNvPr id="5" name="TextBox 4"/>
          <p:cNvSpPr txBox="1"/>
          <p:nvPr/>
        </p:nvSpPr>
        <p:spPr>
          <a:xfrm>
            <a:off x="381000" y="304800"/>
            <a:ext cx="2819400" cy="1077218"/>
          </a:xfrm>
          <a:prstGeom prst="rect">
            <a:avLst/>
          </a:prstGeom>
          <a:noFill/>
        </p:spPr>
        <p:txBody>
          <a:bodyPr wrap="square" rtlCol="0">
            <a:spAutoFit/>
          </a:bodyPr>
          <a:lstStyle/>
          <a:p>
            <a:r>
              <a:rPr lang="en-IN" sz="3200" b="1" dirty="0">
                <a:solidFill>
                  <a:srgbClr val="C00000"/>
                </a:solidFill>
                <a:latin typeface="Calibri" pitchFamily="34" charset="0"/>
              </a:rPr>
              <a:t>References</a:t>
            </a:r>
            <a:endParaRPr lang="en-IN" sz="3200" dirty="0">
              <a:solidFill>
                <a:srgbClr val="C00000"/>
              </a:solidFill>
              <a:latin typeface="Calibri" pitchFamily="34" charset="0"/>
            </a:endParaRPr>
          </a:p>
          <a:p>
            <a:endParaRPr lang="en-US" sz="3200" dirty="0">
              <a:latin typeface="Calibri" pitchFamily="34" charset="0"/>
            </a:endParaRPr>
          </a:p>
        </p:txBody>
      </p:sp>
      <p:sp>
        <p:nvSpPr>
          <p:cNvPr id="4" name="TextBox 3">
            <a:extLst>
              <a:ext uri="{FF2B5EF4-FFF2-40B4-BE49-F238E27FC236}">
                <a16:creationId xmlns:a16="http://schemas.microsoft.com/office/drawing/2014/main" id="{6B62B167-4729-6275-90F8-6E7F5A1BA127}"/>
              </a:ext>
            </a:extLst>
          </p:cNvPr>
          <p:cNvSpPr txBox="1"/>
          <p:nvPr/>
        </p:nvSpPr>
        <p:spPr>
          <a:xfrm>
            <a:off x="381000" y="1066800"/>
            <a:ext cx="8225672" cy="4801314"/>
          </a:xfrm>
          <a:prstGeom prst="rect">
            <a:avLst/>
          </a:prstGeom>
          <a:noFill/>
        </p:spPr>
        <p:txBody>
          <a:bodyPr wrap="square">
            <a:spAutoFit/>
          </a:bodyPr>
          <a:lstStyle/>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[1] R. Agrawal and R. Srikant, ‘‘Fast algorithms for mining association rules in large databases,’’ presented at the 20th Int. Conf. Very Large Data Bases, Sep. 1994.</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[2] J. Han, J. Pei, Y. Yin, and R. Mao, ‘‘Mining frequent patterns without candidate generation: A frequent-pattern tree approach,’’ Data Mining </a:t>
            </a:r>
            <a:r>
              <a:rPr lang="en-IN" sz="1600" dirty="0" err="1">
                <a:latin typeface="Times New Roman" panose="02020603050405020304" pitchFamily="18" charset="0"/>
                <a:cs typeface="Times New Roman" panose="02020603050405020304" pitchFamily="18" charset="0"/>
              </a:rPr>
              <a:t>Knowl</a:t>
            </a:r>
            <a:r>
              <a:rPr lang="en-IN" sz="1600" dirty="0">
                <a:latin typeface="Times New Roman" panose="02020603050405020304" pitchFamily="18" charset="0"/>
                <a:cs typeface="Times New Roman" panose="02020603050405020304" pitchFamily="18" charset="0"/>
              </a:rPr>
              <a:t>. Discovery, vol. 8, no. 1, pp. 53–87, 2004.</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[3] R. Agrawal, T. </a:t>
            </a:r>
            <a:r>
              <a:rPr lang="en-IN" sz="1600" dirty="0" err="1">
                <a:latin typeface="Times New Roman" panose="02020603050405020304" pitchFamily="18" charset="0"/>
                <a:cs typeface="Times New Roman" panose="02020603050405020304" pitchFamily="18" charset="0"/>
              </a:rPr>
              <a:t>Imieliński</a:t>
            </a:r>
            <a:r>
              <a:rPr lang="en-IN" sz="1600" dirty="0">
                <a:latin typeface="Times New Roman" panose="02020603050405020304" pitchFamily="18" charset="0"/>
                <a:cs typeface="Times New Roman" panose="02020603050405020304" pitchFamily="18" charset="0"/>
              </a:rPr>
              <a:t>, and A. Swami, ‘‘Mining association rules between sets of items in large databases,’’ in Proc. ACM SIGMOD Int. Conf. Manage. Data (SIGMOD), 1993, pp. 207–216. </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[4] J. Han, J. Pei, and Y. Yin, ‘‘Mining frequent patterns without candidate generation,’’ ACM SIGMOD Rec., vol. 29, no. 2, pp. 1–12, 2000. </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[5] A. </a:t>
            </a:r>
            <a:r>
              <a:rPr lang="en-IN" sz="1600" dirty="0" err="1">
                <a:latin typeface="Times New Roman" panose="02020603050405020304" pitchFamily="18" charset="0"/>
                <a:cs typeface="Times New Roman" panose="02020603050405020304" pitchFamily="18" charset="0"/>
              </a:rPr>
              <a:t>Tehreem</a:t>
            </a:r>
            <a:r>
              <a:rPr lang="en-IN" sz="1600" dirty="0">
                <a:latin typeface="Times New Roman" panose="02020603050405020304" pitchFamily="18" charset="0"/>
                <a:cs typeface="Times New Roman" panose="02020603050405020304" pitchFamily="18" charset="0"/>
              </a:rPr>
              <a:t>, S. G. Khawaja, M. U. Akram, S. A. Khan, and M. Ali, ‘‘Parallel architecture for implementation of frequent itemset mining using </a:t>
            </a:r>
            <a:r>
              <a:rPr lang="en-IN" sz="1600" dirty="0" err="1">
                <a:latin typeface="Times New Roman" panose="02020603050405020304" pitchFamily="18" charset="0"/>
                <a:cs typeface="Times New Roman" panose="02020603050405020304" pitchFamily="18" charset="0"/>
              </a:rPr>
              <a:t>FPgrowth</a:t>
            </a:r>
            <a:r>
              <a:rPr lang="en-IN" sz="1600" dirty="0">
                <a:latin typeface="Times New Roman" panose="02020603050405020304" pitchFamily="18" charset="0"/>
                <a:cs typeface="Times New Roman" panose="02020603050405020304" pitchFamily="18" charset="0"/>
              </a:rPr>
              <a:t>,’’ in Proc. Int. Conf. Signals Syst. (</a:t>
            </a:r>
            <a:r>
              <a:rPr lang="en-IN" sz="1600" dirty="0" err="1">
                <a:latin typeface="Times New Roman" panose="02020603050405020304" pitchFamily="18" charset="0"/>
                <a:cs typeface="Times New Roman" panose="02020603050405020304" pitchFamily="18" charset="0"/>
              </a:rPr>
              <a:t>ICSigSys</a:t>
            </a:r>
            <a:r>
              <a:rPr lang="en-IN" sz="1600" dirty="0">
                <a:latin typeface="Times New Roman" panose="02020603050405020304" pitchFamily="18" charset="0"/>
                <a:cs typeface="Times New Roman" panose="02020603050405020304" pitchFamily="18" charset="0"/>
              </a:rPr>
              <a:t>), May 2017, pp. 92–98. </a:t>
            </a:r>
          </a:p>
          <a:p>
            <a:r>
              <a:rPr lang="en-IN" sz="1600" dirty="0">
                <a:latin typeface="Times New Roman" panose="02020603050405020304" pitchFamily="18" charset="0"/>
                <a:cs typeface="Times New Roman" panose="02020603050405020304" pitchFamily="18" charset="0"/>
              </a:rPr>
              <a:t> </a:t>
            </a:r>
          </a:p>
          <a:p>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71600" y="3048000"/>
            <a:ext cx="6771598" cy="1569660"/>
          </a:xfrm>
          <a:prstGeom prst="rect">
            <a:avLst/>
          </a:prstGeom>
          <a:noFill/>
        </p:spPr>
        <p:txBody>
          <a:bodyPr wrap="none" lIns="91440" tIns="45720" rIns="91440" bIns="45720">
            <a:spAutoFit/>
          </a:bodyPr>
          <a:lstStyle/>
          <a:p>
            <a:pPr algn="ctr"/>
            <a:r>
              <a:rPr lang="en-US" sz="96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10357</TotalTime>
  <Words>1901</Words>
  <Application>Microsoft Office PowerPoint</Application>
  <PresentationFormat>On-screen Show (4:3)</PresentationFormat>
  <Paragraphs>150</Paragraphs>
  <Slides>26</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Arial Black</vt:lpstr>
      <vt:lpstr>Bookman Old Style</vt:lpstr>
      <vt:lpstr>Calibri</vt:lpstr>
      <vt:lpstr>Carlito</vt:lpstr>
      <vt:lpstr>StarSymbol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Fig 1</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Hareen</dc:creator>
  <cp:lastModifiedBy>preetham chowdary</cp:lastModifiedBy>
  <cp:revision>713</cp:revision>
  <dcterms:modified xsi:type="dcterms:W3CDTF">2023-11-14T04:21:03Z</dcterms:modified>
</cp:coreProperties>
</file>